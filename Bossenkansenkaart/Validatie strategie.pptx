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6EBC7-97BC-568F-FBD2-9EB2EC1E6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5BE463D-4A8D-7CA1-5243-490742F5D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00DE66-4B38-5156-013E-F660D50E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B4465E7-E3D3-D2CA-F07F-E7E9A6FB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963CDC1-B1A7-647B-1CD9-BE8EC746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588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018E4-BD1B-555C-741F-9A5CEDDF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88E942-7F8D-659A-6F56-6CEA401B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30A020-D2A7-A87B-5B68-FD288A3E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2F131-8AE0-38B2-72EB-7E6EEB35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4E89276-A382-F582-EB1D-A28D2A18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906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8839EB-7A11-F1CA-3B96-02E212B5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7960295-324D-E162-6D26-7BA5023FA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DD807C-08A8-9FE5-452E-EF611389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C1F5ED-E328-A0D0-4BCD-860D7EED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4A8EC6-19CB-6BCD-A07C-4E8BE83F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1660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199C52-BB4A-2905-47DB-34AF9401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B55A1C6-657E-6A93-B31B-AA5F6D87D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451DE0C-66E8-2927-8A63-8E6F67714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058B758-51ED-64F6-AC6A-6F550CEA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6050429-B600-4226-D529-47AD2C2B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CBC1240-EE42-4342-2066-B410D594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152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2FAE4-3BA5-3EB5-ABA9-A14B7B99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EEBE4CB-1703-A15C-6447-47E6760D0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818F67F-A6C1-4B18-9119-31077CB6F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7DD9A1C-CDCC-F681-8970-275E9BD65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949F377-4D7A-E558-C6A5-7DD589864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E565D0B-F0D6-6293-90E9-F23D0509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7ACC049-7BC6-5B71-CEDD-FD09125C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3AE8FB8-04C9-C320-6A4B-C51033ED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691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ABC5B-39B1-CDCE-5D8A-583B9534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0B6F8CD-6D76-9171-CD61-3256D5E1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A2C10DF-67AC-76D8-4CA3-0FACFDED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9ADFB09-D457-2816-8C9B-DE0359A2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96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E36366-CCBD-DBFB-821E-543F86A4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65626AB-214C-8110-62A2-C1EA874EC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D99B3DB-20C3-BDA9-EB3A-C2DE3340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382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0DDBF-E8B9-9EC3-905D-F7A6EEFB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6FFC07-8D69-FF4D-D762-47E0329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0A9DC18-A653-1763-6682-3641E955F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119F74-5A19-29D7-D4AE-A1F31FC5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32B1D91-411C-4AAE-39CF-57DC8B0F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57A8FEC-5CF1-43E3-BA96-DC4EAE2D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0215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B0089-6993-34C8-4655-CCC2B60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986FEDF-E937-3044-5636-0A1D2905DE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916386B-3B87-F2E4-B1EB-7955A60A3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CEED186-2392-2988-BA9E-5BCA547E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3C9949C-CD2B-28F0-A3B9-C30F2168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9F31145-95DE-C4E5-668E-2DC21190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908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2401C-40F0-02BE-71C0-A597932E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31988D-28AA-F57A-384C-34F3A6C4F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F4A0EB-DF1C-8ACC-A27F-EED2CE2C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0D3DFF-94D8-A79A-D18A-88BC3804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2101E90-B019-400B-DE5A-A442B12B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1319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ED1FFCC-5423-5F1D-1522-F634D3B23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E6B61F9-95DA-AB23-6638-267D88CAD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0890E3-0263-515F-F841-D6B52CCA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B85A5E5-CF1B-111D-0FEC-ED559B2E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A9D769-2D3F-D026-8A2A-3C986F18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586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EE2B9F1-1607-659A-A767-B945308D8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75E2CE-62D0-652A-BA67-39C49CE1C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27C8C55-6474-49E5-E83E-984792DB5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BC233-7CC4-412E-B2D7-A449F72E9591}" type="datetimeFigureOut">
              <a:rPr lang="nl-BE" smtClean="0"/>
              <a:t>7/10/2026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A5CA4D-D265-52FE-D0B2-20196E7FA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B95CC7-1A76-F03A-EDE5-04429ABD8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131ED-E321-4CF3-A641-C7CF1F5E77E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2261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2.03480v1" TargetMode="External"/><Relationship Id="rId2" Type="http://schemas.openxmlformats.org/officeDocument/2006/relationships/hyperlink" Target="https://arxiv.org/html/2502.03480v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html/2502.03480v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3BDCAF7-EA86-E0ED-983F-9F20ED8C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81" y="1573369"/>
            <a:ext cx="9464860" cy="371126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BF724D0-BCF1-4EDD-5980-09E8DC493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2471"/>
            <a:ext cx="1653683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8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>
            <a:extLst>
              <a:ext uri="{FF2B5EF4-FFF2-40B4-BE49-F238E27FC236}">
                <a16:creationId xmlns:a16="http://schemas.microsoft.com/office/drawing/2014/main" id="{30541216-AAA7-554E-206B-75B6343CA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81" y="1573369"/>
            <a:ext cx="9464860" cy="3711262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EC423E4-CC61-585C-A843-3CA10C03DD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490" y="1494577"/>
            <a:ext cx="9845893" cy="394750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C305CCB-219C-5DDC-E461-406FDF7D3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52471"/>
            <a:ext cx="1653683" cy="1257409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0A442271-4A75-C2FB-9628-4B3A84C833B9}"/>
              </a:ext>
            </a:extLst>
          </p:cNvPr>
          <p:cNvSpPr txBox="1"/>
          <p:nvPr/>
        </p:nvSpPr>
        <p:spPr>
          <a:xfrm>
            <a:off x="2200589" y="5747657"/>
            <a:ext cx="4220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 </a:t>
            </a:r>
            <a:r>
              <a:rPr lang="nl-BE" dirty="0" err="1"/>
              <a:t>tile</a:t>
            </a:r>
            <a:r>
              <a:rPr lang="nl-BE" dirty="0"/>
              <a:t> = 512 x 512 pixels (5120 meter), met h/v overlap van 256 meter</a:t>
            </a:r>
          </a:p>
        </p:txBody>
      </p:sp>
    </p:spTree>
    <p:extLst>
      <p:ext uri="{BB962C8B-B14F-4D97-AF65-F5344CB8AC3E}">
        <p14:creationId xmlns:p14="http://schemas.microsoft.com/office/powerpoint/2010/main" val="260436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E255937-B176-7CD9-185D-D486BBE0EE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4490" y="1494577"/>
            <a:ext cx="9845893" cy="394750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3E6B991-28DE-1978-9150-D7CA40FD0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2471"/>
            <a:ext cx="1653683" cy="1257409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C90FD851-6490-E095-6A8A-44B6260B0DDB}"/>
              </a:ext>
            </a:extLst>
          </p:cNvPr>
          <p:cNvSpPr txBox="1"/>
          <p:nvPr/>
        </p:nvSpPr>
        <p:spPr>
          <a:xfrm>
            <a:off x="2200589" y="5747657"/>
            <a:ext cx="4220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Indeling in 10 spatiale blokken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7C1C94E-FC32-A0C3-B605-1D3A7F11CF1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903" y="1494577"/>
            <a:ext cx="9693480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1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0DEF-85A8-D2D3-9AA1-ABBFD1F5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D0FDBF2-24B1-B712-FD40-F859E0E5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4490" y="1494577"/>
            <a:ext cx="9845893" cy="394750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CE2571B9-78F1-BB92-8F0F-8CDFB0721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2471"/>
            <a:ext cx="1653683" cy="1257409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BCF96097-AABD-DA71-D636-9C9A6DEAFA91}"/>
              </a:ext>
            </a:extLst>
          </p:cNvPr>
          <p:cNvSpPr txBox="1"/>
          <p:nvPr/>
        </p:nvSpPr>
        <p:spPr>
          <a:xfrm>
            <a:off x="2200588" y="5747657"/>
            <a:ext cx="8526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Indeling in 10 spatiale blokken</a:t>
            </a:r>
          </a:p>
          <a:p>
            <a:r>
              <a:rPr lang="nl-BE" dirty="0"/>
              <a:t>Steekproef van 100 </a:t>
            </a:r>
            <a:r>
              <a:rPr lang="nl-BE" dirty="0" err="1"/>
              <a:t>tiles</a:t>
            </a:r>
            <a:r>
              <a:rPr lang="nl-BE" dirty="0"/>
              <a:t> per blok die volledig in een blok zich bevinden en die niet “leeg” zijn (maar 76 zijn er gevonden voor noord-</a:t>
            </a:r>
            <a:r>
              <a:rPr lang="nl-BE" dirty="0" err="1"/>
              <a:t>limburg</a:t>
            </a:r>
            <a:r>
              <a:rPr lang="nl-BE" dirty="0"/>
              <a:t>)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59B5623-AA09-9C25-1B1C-FCEE59D0012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903" y="1494577"/>
            <a:ext cx="9693480" cy="40389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F6B526E-5924-6A1B-A8D4-EB621B353F4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5321" y="1567552"/>
            <a:ext cx="9624894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2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vak 9">
            <a:extLst>
              <a:ext uri="{FF2B5EF4-FFF2-40B4-BE49-F238E27FC236}">
                <a16:creationId xmlns:a16="http://schemas.microsoft.com/office/drawing/2014/main" id="{D63D795F-1996-5A5A-1C98-DF23FBF7D183}"/>
              </a:ext>
            </a:extLst>
          </p:cNvPr>
          <p:cNvSpPr txBox="1"/>
          <p:nvPr/>
        </p:nvSpPr>
        <p:spPr>
          <a:xfrm>
            <a:off x="1061883" y="353961"/>
            <a:ext cx="871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Hoe model nu trainen, tunen/valideren, testen en </a:t>
            </a:r>
            <a:r>
              <a:rPr lang="nl-BE" dirty="0" err="1"/>
              <a:t>deployen</a:t>
            </a:r>
            <a:r>
              <a:rPr lang="nl-BE" dirty="0"/>
              <a:t>?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A825D72-4C39-782A-8FFF-DABA3D409F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376" y="1249646"/>
            <a:ext cx="2948462" cy="1228526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737653C5-42FD-07A1-046D-6AFA2E8E2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684" y="1193486"/>
            <a:ext cx="3051129" cy="1284686"/>
          </a:xfrm>
          <a:prstGeom prst="rect">
            <a:avLst/>
          </a:prstGeom>
        </p:spPr>
      </p:pic>
      <p:sp>
        <p:nvSpPr>
          <p:cNvPr id="15" name="Rechteraccolade 14">
            <a:extLst>
              <a:ext uri="{FF2B5EF4-FFF2-40B4-BE49-F238E27FC236}">
                <a16:creationId xmlns:a16="http://schemas.microsoft.com/office/drawing/2014/main" id="{35424498-4F54-17C7-C550-826A1BDA3CA4}"/>
              </a:ext>
            </a:extLst>
          </p:cNvPr>
          <p:cNvSpPr/>
          <p:nvPr/>
        </p:nvSpPr>
        <p:spPr>
          <a:xfrm rot="5400000">
            <a:off x="5312126" y="1349730"/>
            <a:ext cx="206036" cy="2462922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2BFEF776-F3A4-1DEC-CC59-6901638ECFB8}"/>
              </a:ext>
            </a:extLst>
          </p:cNvPr>
          <p:cNvSpPr txBox="1"/>
          <p:nvPr/>
        </p:nvSpPr>
        <p:spPr>
          <a:xfrm>
            <a:off x="4463844" y="2763699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80% </a:t>
            </a:r>
            <a:r>
              <a:rPr lang="nl-BE" dirty="0" err="1"/>
              <a:t>trainingset</a:t>
            </a:r>
            <a:endParaRPr lang="nl-BE" dirty="0"/>
          </a:p>
        </p:txBody>
      </p:sp>
      <p:pic>
        <p:nvPicPr>
          <p:cNvPr id="18" name="Graphic 17" descr="Kunstmatige intelligentie met effen opvulling">
            <a:extLst>
              <a:ext uri="{FF2B5EF4-FFF2-40B4-BE49-F238E27FC236}">
                <a16:creationId xmlns:a16="http://schemas.microsoft.com/office/drawing/2014/main" id="{057DF4E2-A183-6494-052B-D3FDBDCC5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5595" y="3210063"/>
            <a:ext cx="538288" cy="538288"/>
          </a:xfrm>
          <a:prstGeom prst="rect">
            <a:avLst/>
          </a:prstGeom>
        </p:spPr>
      </p:pic>
      <p:sp>
        <p:nvSpPr>
          <p:cNvPr id="19" name="Pijl: gekromd omlaag 18">
            <a:extLst>
              <a:ext uri="{FF2B5EF4-FFF2-40B4-BE49-F238E27FC236}">
                <a16:creationId xmlns:a16="http://schemas.microsoft.com/office/drawing/2014/main" id="{55A9EDC9-FA53-A2DC-1D0F-8E66D4CA9CC3}"/>
              </a:ext>
            </a:extLst>
          </p:cNvPr>
          <p:cNvSpPr/>
          <p:nvPr/>
        </p:nvSpPr>
        <p:spPr>
          <a:xfrm rot="5400000">
            <a:off x="5369115" y="3333842"/>
            <a:ext cx="937170" cy="5166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21" name="Pijl: gekromd omlaag 20">
            <a:extLst>
              <a:ext uri="{FF2B5EF4-FFF2-40B4-BE49-F238E27FC236}">
                <a16:creationId xmlns:a16="http://schemas.microsoft.com/office/drawing/2014/main" id="{E163DDA2-D6D1-B831-3F6E-84A7092B8ADE}"/>
              </a:ext>
            </a:extLst>
          </p:cNvPr>
          <p:cNvSpPr/>
          <p:nvPr/>
        </p:nvSpPr>
        <p:spPr>
          <a:xfrm rot="5400000" flipH="1" flipV="1">
            <a:off x="4423192" y="3279899"/>
            <a:ext cx="937171" cy="516599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249FB080-E3DD-3561-B928-106C6B8F3936}"/>
              </a:ext>
            </a:extLst>
          </p:cNvPr>
          <p:cNvSpPr txBox="1"/>
          <p:nvPr/>
        </p:nvSpPr>
        <p:spPr>
          <a:xfrm>
            <a:off x="7610167" y="1349678"/>
            <a:ext cx="4819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10% </a:t>
            </a:r>
            <a:r>
              <a:rPr lang="nl-BE" dirty="0" err="1"/>
              <a:t>validatieset</a:t>
            </a:r>
            <a:r>
              <a:rPr lang="nl-BE" dirty="0"/>
              <a:t> </a:t>
            </a:r>
          </a:p>
          <a:p>
            <a:r>
              <a:rPr lang="nl-BE" dirty="0"/>
              <a:t>(voor hyperparameter </a:t>
            </a:r>
            <a:r>
              <a:rPr lang="nl-BE" dirty="0" err="1"/>
              <a:t>tuning</a:t>
            </a:r>
            <a:r>
              <a:rPr lang="nl-BE" dirty="0"/>
              <a:t>, model selectie)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55F56642-FA40-C361-0B23-31585DC14074}"/>
              </a:ext>
            </a:extLst>
          </p:cNvPr>
          <p:cNvSpPr txBox="1"/>
          <p:nvPr/>
        </p:nvSpPr>
        <p:spPr>
          <a:xfrm>
            <a:off x="7619999" y="2020023"/>
            <a:ext cx="406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10% </a:t>
            </a:r>
            <a:r>
              <a:rPr lang="nl-BE" dirty="0" err="1"/>
              <a:t>testset</a:t>
            </a:r>
            <a:r>
              <a:rPr lang="nl-BE" dirty="0"/>
              <a:t> </a:t>
            </a:r>
          </a:p>
          <a:p>
            <a:r>
              <a:rPr lang="nl-BE" dirty="0"/>
              <a:t>(voor model evaluatie)</a:t>
            </a:r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BAE33FF7-32D8-6430-7197-E23E4AB91886}"/>
              </a:ext>
            </a:extLst>
          </p:cNvPr>
          <p:cNvCxnSpPr>
            <a:stCxn id="12" idx="3"/>
          </p:cNvCxnSpPr>
          <p:nvPr/>
        </p:nvCxnSpPr>
        <p:spPr>
          <a:xfrm>
            <a:off x="3528838" y="1863909"/>
            <a:ext cx="4925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ijl: gekromd omlaag 30">
            <a:extLst>
              <a:ext uri="{FF2B5EF4-FFF2-40B4-BE49-F238E27FC236}">
                <a16:creationId xmlns:a16="http://schemas.microsoft.com/office/drawing/2014/main" id="{A81B4D62-CE8C-95A8-B8A7-3D4F155D9AD3}"/>
              </a:ext>
            </a:extLst>
          </p:cNvPr>
          <p:cNvSpPr/>
          <p:nvPr/>
        </p:nvSpPr>
        <p:spPr>
          <a:xfrm>
            <a:off x="5702710" y="802783"/>
            <a:ext cx="1209367" cy="249269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33" name="Pijl: gekromd omlaag 32">
            <a:extLst>
              <a:ext uri="{FF2B5EF4-FFF2-40B4-BE49-F238E27FC236}">
                <a16:creationId xmlns:a16="http://schemas.microsoft.com/office/drawing/2014/main" id="{244BDA4D-2E45-0D22-0EF6-D2AFB429107A}"/>
              </a:ext>
            </a:extLst>
          </p:cNvPr>
          <p:cNvSpPr/>
          <p:nvPr/>
        </p:nvSpPr>
        <p:spPr>
          <a:xfrm rot="5400000">
            <a:off x="6985605" y="1764793"/>
            <a:ext cx="995718" cy="25340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15650B26-0893-034E-F6EC-574046B3A81D}"/>
              </a:ext>
            </a:extLst>
          </p:cNvPr>
          <p:cNvSpPr/>
          <p:nvPr/>
        </p:nvSpPr>
        <p:spPr>
          <a:xfrm>
            <a:off x="4021394" y="1052052"/>
            <a:ext cx="3325535" cy="161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82F43424-CE03-16EA-33E0-3E7EFA1C6452}"/>
              </a:ext>
            </a:extLst>
          </p:cNvPr>
          <p:cNvSpPr txBox="1"/>
          <p:nvPr/>
        </p:nvSpPr>
        <p:spPr>
          <a:xfrm>
            <a:off x="7619999" y="3046844"/>
            <a:ext cx="406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rgbClr val="FF0000"/>
                </a:solidFill>
              </a:rPr>
              <a:t>Deployement</a:t>
            </a:r>
            <a:r>
              <a:rPr lang="nl-BE" dirty="0">
                <a:solidFill>
                  <a:srgbClr val="FF0000"/>
                </a:solidFill>
              </a:rPr>
              <a:t> op alle gebieden.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86A2D44D-8715-C58E-5EC6-F604B9EE5D6C}"/>
              </a:ext>
            </a:extLst>
          </p:cNvPr>
          <p:cNvSpPr txBox="1"/>
          <p:nvPr/>
        </p:nvSpPr>
        <p:spPr>
          <a:xfrm>
            <a:off x="147484" y="4060727"/>
            <a:ext cx="2261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Indeling kan random of niet random zijn.</a:t>
            </a:r>
          </a:p>
        </p:txBody>
      </p:sp>
    </p:spTree>
    <p:extLst>
      <p:ext uri="{BB962C8B-B14F-4D97-AF65-F5344CB8AC3E}">
        <p14:creationId xmlns:p14="http://schemas.microsoft.com/office/powerpoint/2010/main" val="249351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9" grpId="0" animBg="1"/>
      <p:bldP spid="21" grpId="0" animBg="1"/>
      <p:bldP spid="23" grpId="0"/>
      <p:bldP spid="25" grpId="0"/>
      <p:bldP spid="31" grpId="0" animBg="1"/>
      <p:bldP spid="33" grpId="0" animBg="1"/>
      <p:bldP spid="36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6F015-CF5E-5E9D-9004-5AF475C4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vak 9">
            <a:extLst>
              <a:ext uri="{FF2B5EF4-FFF2-40B4-BE49-F238E27FC236}">
                <a16:creationId xmlns:a16="http://schemas.microsoft.com/office/drawing/2014/main" id="{65A9468E-30DE-78F4-9447-BB4EB92D39B9}"/>
              </a:ext>
            </a:extLst>
          </p:cNvPr>
          <p:cNvSpPr txBox="1"/>
          <p:nvPr/>
        </p:nvSpPr>
        <p:spPr>
          <a:xfrm>
            <a:off x="1061883" y="353961"/>
            <a:ext cx="871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Hoe model nu trainen, tunen/valideren, testen en </a:t>
            </a:r>
            <a:r>
              <a:rPr lang="nl-BE" dirty="0" err="1"/>
              <a:t>deployen</a:t>
            </a:r>
            <a:r>
              <a:rPr lang="nl-BE" dirty="0"/>
              <a:t>?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A55BBE3F-4B80-53A5-613A-348001083D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376" y="1249646"/>
            <a:ext cx="2948462" cy="1228526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3B4E24B-AB1F-B5D1-724D-928502DA6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684" y="1193486"/>
            <a:ext cx="3051129" cy="1284686"/>
          </a:xfrm>
          <a:prstGeom prst="rect">
            <a:avLst/>
          </a:prstGeom>
        </p:spPr>
      </p:pic>
      <p:sp>
        <p:nvSpPr>
          <p:cNvPr id="15" name="Rechteraccolade 14">
            <a:extLst>
              <a:ext uri="{FF2B5EF4-FFF2-40B4-BE49-F238E27FC236}">
                <a16:creationId xmlns:a16="http://schemas.microsoft.com/office/drawing/2014/main" id="{328EC2E5-BB93-0E0E-8E35-7BEA15BC2594}"/>
              </a:ext>
            </a:extLst>
          </p:cNvPr>
          <p:cNvSpPr/>
          <p:nvPr/>
        </p:nvSpPr>
        <p:spPr>
          <a:xfrm rot="5400000">
            <a:off x="5312126" y="1349730"/>
            <a:ext cx="206036" cy="2462922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E94EBDC-63BB-F1E3-D1AC-32D8979FDA16}"/>
              </a:ext>
            </a:extLst>
          </p:cNvPr>
          <p:cNvSpPr txBox="1"/>
          <p:nvPr/>
        </p:nvSpPr>
        <p:spPr>
          <a:xfrm>
            <a:off x="4463844" y="2763699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80% </a:t>
            </a:r>
            <a:r>
              <a:rPr lang="nl-BE" dirty="0" err="1"/>
              <a:t>trainingset</a:t>
            </a:r>
            <a:endParaRPr lang="nl-BE" dirty="0"/>
          </a:p>
        </p:txBody>
      </p:sp>
      <p:pic>
        <p:nvPicPr>
          <p:cNvPr id="18" name="Graphic 17" descr="Kunstmatige intelligentie met effen opvulling">
            <a:extLst>
              <a:ext uri="{FF2B5EF4-FFF2-40B4-BE49-F238E27FC236}">
                <a16:creationId xmlns:a16="http://schemas.microsoft.com/office/drawing/2014/main" id="{A97B6209-AF25-8B0A-F0D7-792C71DB11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5595" y="3210063"/>
            <a:ext cx="538288" cy="538288"/>
          </a:xfrm>
          <a:prstGeom prst="rect">
            <a:avLst/>
          </a:prstGeom>
        </p:spPr>
      </p:pic>
      <p:sp>
        <p:nvSpPr>
          <p:cNvPr id="19" name="Pijl: gekromd omlaag 18">
            <a:extLst>
              <a:ext uri="{FF2B5EF4-FFF2-40B4-BE49-F238E27FC236}">
                <a16:creationId xmlns:a16="http://schemas.microsoft.com/office/drawing/2014/main" id="{B7B876AC-E9E9-88F1-1BB3-784A6F50F6AC}"/>
              </a:ext>
            </a:extLst>
          </p:cNvPr>
          <p:cNvSpPr/>
          <p:nvPr/>
        </p:nvSpPr>
        <p:spPr>
          <a:xfrm rot="5400000">
            <a:off x="5369115" y="3333842"/>
            <a:ext cx="937170" cy="516600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21" name="Pijl: gekromd omlaag 20">
            <a:extLst>
              <a:ext uri="{FF2B5EF4-FFF2-40B4-BE49-F238E27FC236}">
                <a16:creationId xmlns:a16="http://schemas.microsoft.com/office/drawing/2014/main" id="{25A9BF1B-E399-1085-149A-7C3EA7823025}"/>
              </a:ext>
            </a:extLst>
          </p:cNvPr>
          <p:cNvSpPr/>
          <p:nvPr/>
        </p:nvSpPr>
        <p:spPr>
          <a:xfrm rot="5400000" flipH="1" flipV="1">
            <a:off x="4423192" y="3279899"/>
            <a:ext cx="937171" cy="516599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1C6BE142-46B0-49B6-5524-2FD87ECB10D2}"/>
              </a:ext>
            </a:extLst>
          </p:cNvPr>
          <p:cNvSpPr txBox="1"/>
          <p:nvPr/>
        </p:nvSpPr>
        <p:spPr>
          <a:xfrm>
            <a:off x="7610167" y="1349678"/>
            <a:ext cx="4819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10% </a:t>
            </a:r>
            <a:r>
              <a:rPr lang="nl-BE" dirty="0" err="1"/>
              <a:t>validatieset</a:t>
            </a:r>
            <a:r>
              <a:rPr lang="nl-BE" dirty="0"/>
              <a:t> </a:t>
            </a:r>
          </a:p>
          <a:p>
            <a:r>
              <a:rPr lang="nl-BE" dirty="0"/>
              <a:t>(voor hyperparameter </a:t>
            </a:r>
            <a:r>
              <a:rPr lang="nl-BE" dirty="0" err="1"/>
              <a:t>tuning</a:t>
            </a:r>
            <a:r>
              <a:rPr lang="nl-BE" dirty="0"/>
              <a:t>, model selectie)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1010553C-E8E8-02C3-88A8-667A0B557D7D}"/>
              </a:ext>
            </a:extLst>
          </p:cNvPr>
          <p:cNvSpPr txBox="1"/>
          <p:nvPr/>
        </p:nvSpPr>
        <p:spPr>
          <a:xfrm>
            <a:off x="7619999" y="2020023"/>
            <a:ext cx="406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10% </a:t>
            </a:r>
            <a:r>
              <a:rPr lang="nl-BE" dirty="0" err="1"/>
              <a:t>testset</a:t>
            </a:r>
            <a:r>
              <a:rPr lang="nl-BE" dirty="0"/>
              <a:t> </a:t>
            </a:r>
          </a:p>
          <a:p>
            <a:r>
              <a:rPr lang="nl-BE" dirty="0"/>
              <a:t>(voor model evaluatie)</a:t>
            </a:r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2EB49AB7-CBA5-F9F9-1895-647935482C77}"/>
              </a:ext>
            </a:extLst>
          </p:cNvPr>
          <p:cNvCxnSpPr>
            <a:stCxn id="12" idx="3"/>
          </p:cNvCxnSpPr>
          <p:nvPr/>
        </p:nvCxnSpPr>
        <p:spPr>
          <a:xfrm>
            <a:off x="3528838" y="1863909"/>
            <a:ext cx="4925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ijl: gekromd omlaag 30">
            <a:extLst>
              <a:ext uri="{FF2B5EF4-FFF2-40B4-BE49-F238E27FC236}">
                <a16:creationId xmlns:a16="http://schemas.microsoft.com/office/drawing/2014/main" id="{F30B312A-B3CF-8D4C-8396-04B54B90ECE6}"/>
              </a:ext>
            </a:extLst>
          </p:cNvPr>
          <p:cNvSpPr/>
          <p:nvPr/>
        </p:nvSpPr>
        <p:spPr>
          <a:xfrm>
            <a:off x="5702710" y="802783"/>
            <a:ext cx="1209367" cy="249269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33" name="Pijl: gekromd omlaag 32">
            <a:extLst>
              <a:ext uri="{FF2B5EF4-FFF2-40B4-BE49-F238E27FC236}">
                <a16:creationId xmlns:a16="http://schemas.microsoft.com/office/drawing/2014/main" id="{884FB21E-99EE-78F5-766A-C2F1178296B6}"/>
              </a:ext>
            </a:extLst>
          </p:cNvPr>
          <p:cNvSpPr/>
          <p:nvPr/>
        </p:nvSpPr>
        <p:spPr>
          <a:xfrm rot="5400000">
            <a:off x="6985605" y="1764793"/>
            <a:ext cx="995718" cy="253406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49C98727-9828-92C3-80E7-EE5A4BD14CE9}"/>
              </a:ext>
            </a:extLst>
          </p:cNvPr>
          <p:cNvSpPr/>
          <p:nvPr/>
        </p:nvSpPr>
        <p:spPr>
          <a:xfrm>
            <a:off x="4021394" y="1052052"/>
            <a:ext cx="3325535" cy="161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DA4802DE-215D-D490-E0F9-368480EF2F22}"/>
              </a:ext>
            </a:extLst>
          </p:cNvPr>
          <p:cNvSpPr txBox="1"/>
          <p:nvPr/>
        </p:nvSpPr>
        <p:spPr>
          <a:xfrm>
            <a:off x="7619999" y="3046844"/>
            <a:ext cx="406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rgbClr val="FF0000"/>
                </a:solidFill>
              </a:rPr>
              <a:t>Deployement</a:t>
            </a:r>
            <a:r>
              <a:rPr lang="nl-BE" dirty="0">
                <a:solidFill>
                  <a:srgbClr val="FF0000"/>
                </a:solidFill>
              </a:rPr>
              <a:t> op alle gebieden.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E641A0DB-7570-C43E-AA72-98C13EFC9138}"/>
              </a:ext>
            </a:extLst>
          </p:cNvPr>
          <p:cNvSpPr txBox="1"/>
          <p:nvPr/>
        </p:nvSpPr>
        <p:spPr>
          <a:xfrm>
            <a:off x="147484" y="4060727"/>
            <a:ext cx="2261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Indeling kan random of niet random zijn.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5E4E715-0EDB-3741-EB88-C713EB8DF2D2}"/>
              </a:ext>
            </a:extLst>
          </p:cNvPr>
          <p:cNvSpPr txBox="1"/>
          <p:nvPr/>
        </p:nvSpPr>
        <p:spPr>
          <a:xfrm>
            <a:off x="4276166" y="4283980"/>
            <a:ext cx="40624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x keer, want training in deel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 training is deels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stochastich</a:t>
            </a:r>
            <a:endParaRPr lang="nl-BE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nl-BE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Verdeling van “optimale”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hyperparameterset</a:t>
            </a:r>
            <a:endParaRPr lang="nl-BE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Verdeling van de accuraatheid op trainings-, validatie- en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testset</a:t>
            </a: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162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1B8E-F556-FF2F-81B7-9CE38071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vak 9">
            <a:extLst>
              <a:ext uri="{FF2B5EF4-FFF2-40B4-BE49-F238E27FC236}">
                <a16:creationId xmlns:a16="http://schemas.microsoft.com/office/drawing/2014/main" id="{DD8372FA-D6E1-0ABE-F82A-BC2238909D8A}"/>
              </a:ext>
            </a:extLst>
          </p:cNvPr>
          <p:cNvSpPr txBox="1"/>
          <p:nvPr/>
        </p:nvSpPr>
        <p:spPr>
          <a:xfrm>
            <a:off x="1061883" y="353961"/>
            <a:ext cx="871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Hoe model nu trainen, tunen/valideren, testen en </a:t>
            </a:r>
            <a:r>
              <a:rPr lang="nl-BE" dirty="0" err="1"/>
              <a:t>deployen</a:t>
            </a:r>
            <a:r>
              <a:rPr lang="nl-BE" dirty="0"/>
              <a:t>?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F2E916B-ECCD-EB58-5F83-C6C85D35DA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376" y="1249646"/>
            <a:ext cx="2948462" cy="1228526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23123BA6-1942-C40B-A7A4-AA7B6E7CD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684" y="1193486"/>
            <a:ext cx="3051129" cy="1284686"/>
          </a:xfrm>
          <a:prstGeom prst="rect">
            <a:avLst/>
          </a:prstGeom>
        </p:spPr>
      </p:pic>
      <p:sp>
        <p:nvSpPr>
          <p:cNvPr id="15" name="Rechteraccolade 14">
            <a:extLst>
              <a:ext uri="{FF2B5EF4-FFF2-40B4-BE49-F238E27FC236}">
                <a16:creationId xmlns:a16="http://schemas.microsoft.com/office/drawing/2014/main" id="{AD0C89AC-2B93-F368-0B58-F9B8341D575D}"/>
              </a:ext>
            </a:extLst>
          </p:cNvPr>
          <p:cNvSpPr/>
          <p:nvPr/>
        </p:nvSpPr>
        <p:spPr>
          <a:xfrm rot="5400000">
            <a:off x="5312126" y="1349730"/>
            <a:ext cx="206036" cy="2462922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9B5C23C-B668-A4EF-3784-B072CAF5804A}"/>
              </a:ext>
            </a:extLst>
          </p:cNvPr>
          <p:cNvSpPr txBox="1"/>
          <p:nvPr/>
        </p:nvSpPr>
        <p:spPr>
          <a:xfrm>
            <a:off x="4463844" y="2763699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80% </a:t>
            </a:r>
            <a:r>
              <a:rPr lang="nl-BE" dirty="0" err="1"/>
              <a:t>trainingset</a:t>
            </a:r>
            <a:endParaRPr lang="nl-BE" dirty="0"/>
          </a:p>
        </p:txBody>
      </p:sp>
      <p:pic>
        <p:nvPicPr>
          <p:cNvPr id="18" name="Graphic 17" descr="Kunstmatige intelligentie met effen opvulling">
            <a:extLst>
              <a:ext uri="{FF2B5EF4-FFF2-40B4-BE49-F238E27FC236}">
                <a16:creationId xmlns:a16="http://schemas.microsoft.com/office/drawing/2014/main" id="{7DCEF15B-F8DB-040F-C540-82FE592D5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5595" y="3210063"/>
            <a:ext cx="538288" cy="538288"/>
          </a:xfrm>
          <a:prstGeom prst="rect">
            <a:avLst/>
          </a:prstGeom>
        </p:spPr>
      </p:pic>
      <p:sp>
        <p:nvSpPr>
          <p:cNvPr id="19" name="Pijl: gekromd omlaag 18">
            <a:extLst>
              <a:ext uri="{FF2B5EF4-FFF2-40B4-BE49-F238E27FC236}">
                <a16:creationId xmlns:a16="http://schemas.microsoft.com/office/drawing/2014/main" id="{20CF0AF5-AD36-8ED9-2A13-A69A6232F042}"/>
              </a:ext>
            </a:extLst>
          </p:cNvPr>
          <p:cNvSpPr/>
          <p:nvPr/>
        </p:nvSpPr>
        <p:spPr>
          <a:xfrm rot="5400000">
            <a:off x="5369115" y="3333842"/>
            <a:ext cx="937170" cy="516600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21" name="Pijl: gekromd omlaag 20">
            <a:extLst>
              <a:ext uri="{FF2B5EF4-FFF2-40B4-BE49-F238E27FC236}">
                <a16:creationId xmlns:a16="http://schemas.microsoft.com/office/drawing/2014/main" id="{B5DE08DE-FCD7-8CEA-6395-68F381EE339C}"/>
              </a:ext>
            </a:extLst>
          </p:cNvPr>
          <p:cNvSpPr/>
          <p:nvPr/>
        </p:nvSpPr>
        <p:spPr>
          <a:xfrm rot="5400000" flipH="1" flipV="1">
            <a:off x="4423192" y="3279899"/>
            <a:ext cx="937171" cy="516599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6EBBCA7D-2796-5756-ED08-F3EFA6AAAC47}"/>
              </a:ext>
            </a:extLst>
          </p:cNvPr>
          <p:cNvSpPr txBox="1"/>
          <p:nvPr/>
        </p:nvSpPr>
        <p:spPr>
          <a:xfrm>
            <a:off x="7610167" y="1349678"/>
            <a:ext cx="4819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10% </a:t>
            </a:r>
            <a:r>
              <a:rPr lang="nl-BE" dirty="0" err="1"/>
              <a:t>validatieset</a:t>
            </a:r>
            <a:r>
              <a:rPr lang="nl-BE" dirty="0"/>
              <a:t> </a:t>
            </a:r>
          </a:p>
          <a:p>
            <a:r>
              <a:rPr lang="nl-BE" dirty="0"/>
              <a:t>(voor hyperparameter </a:t>
            </a:r>
            <a:r>
              <a:rPr lang="nl-BE" dirty="0" err="1"/>
              <a:t>tuning</a:t>
            </a:r>
            <a:r>
              <a:rPr lang="nl-BE" dirty="0"/>
              <a:t>, model selectie)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6301F97A-A5E6-2041-FD4D-8814DA7F7A46}"/>
              </a:ext>
            </a:extLst>
          </p:cNvPr>
          <p:cNvSpPr txBox="1"/>
          <p:nvPr/>
        </p:nvSpPr>
        <p:spPr>
          <a:xfrm>
            <a:off x="7619999" y="2020023"/>
            <a:ext cx="406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10% </a:t>
            </a:r>
            <a:r>
              <a:rPr lang="nl-BE" dirty="0" err="1"/>
              <a:t>testset</a:t>
            </a:r>
            <a:r>
              <a:rPr lang="nl-BE" dirty="0"/>
              <a:t> </a:t>
            </a:r>
          </a:p>
          <a:p>
            <a:r>
              <a:rPr lang="nl-BE" dirty="0"/>
              <a:t>(voor model evaluatie)</a:t>
            </a:r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6380B295-01E5-B44E-5DF9-09715CBA062D}"/>
              </a:ext>
            </a:extLst>
          </p:cNvPr>
          <p:cNvCxnSpPr>
            <a:stCxn id="12" idx="3"/>
          </p:cNvCxnSpPr>
          <p:nvPr/>
        </p:nvCxnSpPr>
        <p:spPr>
          <a:xfrm>
            <a:off x="3528838" y="1863909"/>
            <a:ext cx="4925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ijl: gekromd omlaag 30">
            <a:extLst>
              <a:ext uri="{FF2B5EF4-FFF2-40B4-BE49-F238E27FC236}">
                <a16:creationId xmlns:a16="http://schemas.microsoft.com/office/drawing/2014/main" id="{AAEA9BE7-F814-FCB5-1561-37D3777CC0E3}"/>
              </a:ext>
            </a:extLst>
          </p:cNvPr>
          <p:cNvSpPr/>
          <p:nvPr/>
        </p:nvSpPr>
        <p:spPr>
          <a:xfrm>
            <a:off x="5702710" y="802783"/>
            <a:ext cx="1209367" cy="249269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33" name="Pijl: gekromd omlaag 32">
            <a:extLst>
              <a:ext uri="{FF2B5EF4-FFF2-40B4-BE49-F238E27FC236}">
                <a16:creationId xmlns:a16="http://schemas.microsoft.com/office/drawing/2014/main" id="{FA10E41B-1B8F-E752-AB1C-6E3BB232E080}"/>
              </a:ext>
            </a:extLst>
          </p:cNvPr>
          <p:cNvSpPr/>
          <p:nvPr/>
        </p:nvSpPr>
        <p:spPr>
          <a:xfrm rot="5400000">
            <a:off x="6985605" y="1764793"/>
            <a:ext cx="995718" cy="253406"/>
          </a:xfrm>
          <a:prstGeom prst="curved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AB07FCDA-C7D7-87E4-977A-39EA84435D19}"/>
              </a:ext>
            </a:extLst>
          </p:cNvPr>
          <p:cNvSpPr/>
          <p:nvPr/>
        </p:nvSpPr>
        <p:spPr>
          <a:xfrm>
            <a:off x="4021394" y="1052052"/>
            <a:ext cx="3325535" cy="161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C813D203-C0AF-A962-5441-DDA14BF1A8A9}"/>
              </a:ext>
            </a:extLst>
          </p:cNvPr>
          <p:cNvSpPr txBox="1"/>
          <p:nvPr/>
        </p:nvSpPr>
        <p:spPr>
          <a:xfrm>
            <a:off x="7619999" y="3046844"/>
            <a:ext cx="406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rgbClr val="FF0000"/>
                </a:solidFill>
              </a:rPr>
              <a:t>Deployement</a:t>
            </a:r>
            <a:r>
              <a:rPr lang="nl-BE" dirty="0">
                <a:solidFill>
                  <a:srgbClr val="FF0000"/>
                </a:solidFill>
              </a:rPr>
              <a:t> op alle gebieden.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646C0CC4-33BF-AB9E-795C-BB28A6EF7BC0}"/>
              </a:ext>
            </a:extLst>
          </p:cNvPr>
          <p:cNvSpPr txBox="1"/>
          <p:nvPr/>
        </p:nvSpPr>
        <p:spPr>
          <a:xfrm>
            <a:off x="147484" y="4060727"/>
            <a:ext cx="2261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Indeling kan random of niet random zijn.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6DE80F1D-7F22-01B6-EF99-234D28DF538F}"/>
              </a:ext>
            </a:extLst>
          </p:cNvPr>
          <p:cNvSpPr txBox="1"/>
          <p:nvPr/>
        </p:nvSpPr>
        <p:spPr>
          <a:xfrm>
            <a:off x="4276166" y="4283980"/>
            <a:ext cx="40624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x keer, want training in deel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 training is deels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stochastich</a:t>
            </a:r>
            <a:endParaRPr lang="nl-BE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nl-BE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Verdeling van “optimale”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hyperparameterset</a:t>
            </a:r>
            <a:endParaRPr lang="nl-BE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Verdeling van de accuraatheid op trainings-, validatie- en </a:t>
            </a:r>
            <a:r>
              <a:rPr lang="nl-BE" dirty="0" err="1">
                <a:solidFill>
                  <a:schemeClr val="accent2">
                    <a:lumMod val="75000"/>
                  </a:schemeClr>
                </a:solidFill>
              </a:rPr>
              <a:t>testset</a:t>
            </a:r>
            <a:r>
              <a:rPr lang="nl-BE" dirty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2329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6B636-54FD-9FBE-C6D4-374B7398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052991C-7E88-AC70-EB3A-EF132C567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hlinkClick r:id="rId2"/>
              </a:rPr>
              <a:t>https://arxiv.org/html/2502.03480v2</a:t>
            </a:r>
            <a:endParaRPr lang="nl-BE" dirty="0"/>
          </a:p>
          <a:p>
            <a:r>
              <a:rPr lang="nl-BE">
                <a:hlinkClick r:id="rId3"/>
              </a:rPr>
              <a:t>https://arxiv.org/html/2502.03480v1</a:t>
            </a:r>
            <a:endParaRPr lang="nl-BE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031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7EC67-278C-15E5-6A94-BF300EC9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773F43D-C7BD-793A-82BF-C2A617B1340D}"/>
              </a:ext>
            </a:extLst>
          </p:cNvPr>
          <p:cNvSpPr txBox="1"/>
          <p:nvPr/>
        </p:nvSpPr>
        <p:spPr>
          <a:xfrm>
            <a:off x="3048000" y="-4474552"/>
            <a:ext cx="6096000" cy="1581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The </a:t>
            </a:r>
            <a:r>
              <a:rPr lang="nl-BE" sz="1800" b="1" u="none" strike="noStrike" dirty="0" err="1">
                <a:effectLst/>
                <a:latin typeface="+mn-lt"/>
              </a:rPr>
              <a:t>Recommended</a:t>
            </a:r>
            <a:r>
              <a:rPr lang="nl-BE" sz="1800" b="1" u="none" strike="noStrike" dirty="0">
                <a:effectLst/>
                <a:latin typeface="+mn-lt"/>
              </a:rPr>
              <a:t> Workflow (Step-by-Step)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Step 1: </a:t>
            </a:r>
            <a:r>
              <a:rPr lang="nl-BE" sz="1800" b="1" u="none" strike="noStrike" dirty="0" err="1">
                <a:effectLst/>
                <a:latin typeface="+mn-lt"/>
              </a:rPr>
              <a:t>Isolate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your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Final</a:t>
            </a:r>
            <a:r>
              <a:rPr lang="nl-BE" sz="1800" b="1" u="none" strike="noStrike" dirty="0">
                <a:effectLst/>
                <a:latin typeface="+mn-lt"/>
              </a:rPr>
              <a:t> Test Block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nl-BE" sz="1800" b="0" u="none" strike="noStrike" dirty="0">
                <a:effectLst/>
                <a:latin typeface="+mn-lt"/>
              </a:rPr>
              <a:t>Take </a:t>
            </a:r>
            <a:r>
              <a:rPr lang="nl-BE" sz="1800" b="1" u="none" strike="noStrike" dirty="0">
                <a:effectLst/>
                <a:latin typeface="+mn-lt"/>
              </a:rPr>
              <a:t>1 block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put </a:t>
            </a:r>
            <a:r>
              <a:rPr lang="nl-BE" sz="1800" b="0" u="none" strike="noStrike" dirty="0" err="1">
                <a:effectLst/>
                <a:latin typeface="+mn-lt"/>
              </a:rPr>
              <a:t>it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completely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side. Under no </a:t>
            </a:r>
            <a:r>
              <a:rPr lang="nl-BE" sz="1800" b="0" u="none" strike="noStrike" dirty="0" err="1">
                <a:effectLst/>
                <a:latin typeface="+mn-lt"/>
              </a:rPr>
              <a:t>circumstances</a:t>
            </a:r>
            <a:r>
              <a:rPr lang="nl-BE" sz="1800" b="0" u="none" strike="noStrike" dirty="0">
                <a:effectLst/>
                <a:latin typeface="+mn-lt"/>
              </a:rPr>
              <a:t> does </a:t>
            </a:r>
            <a:r>
              <a:rPr lang="nl-BE" sz="1800" b="0" u="none" strike="noStrike" dirty="0" err="1">
                <a:effectLst/>
                <a:latin typeface="+mn-lt"/>
              </a:rPr>
              <a:t>any</a:t>
            </a:r>
            <a:r>
              <a:rPr lang="nl-BE" sz="1800" b="0" u="none" strike="noStrike" dirty="0">
                <a:effectLst/>
                <a:latin typeface="+mn-lt"/>
              </a:rPr>
              <a:t> model </a:t>
            </a:r>
            <a:r>
              <a:rPr lang="nl-BE" sz="1800" b="0" u="none" strike="noStrike" dirty="0" err="1">
                <a:effectLst/>
                <a:latin typeface="+mn-lt"/>
              </a:rPr>
              <a:t>see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this</a:t>
            </a:r>
            <a:r>
              <a:rPr lang="nl-BE" sz="1800" b="0" u="none" strike="noStrike" dirty="0">
                <a:effectLst/>
                <a:latin typeface="+mn-lt"/>
              </a:rPr>
              <a:t> block </a:t>
            </a:r>
            <a:r>
              <a:rPr lang="nl-BE" sz="1800" b="0" u="none" strike="noStrike" dirty="0" err="1">
                <a:effectLst/>
                <a:latin typeface="+mn-lt"/>
              </a:rPr>
              <a:t>during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tuning</a:t>
            </a:r>
            <a:r>
              <a:rPr lang="nl-BE" sz="1800" b="0" u="none" strike="noStrike" dirty="0">
                <a:effectLst/>
                <a:latin typeface="+mn-lt"/>
              </a:rPr>
              <a:t> or training. It acts as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final</a:t>
            </a:r>
            <a:r>
              <a:rPr lang="nl-BE" sz="1800" b="0" u="none" strike="noStrike" dirty="0">
                <a:effectLst/>
                <a:latin typeface="+mn-lt"/>
              </a:rPr>
              <a:t> "</a:t>
            </a:r>
            <a:r>
              <a:rPr lang="nl-BE" sz="1800" b="0" u="none" strike="noStrike" dirty="0" err="1">
                <a:effectLst/>
                <a:latin typeface="+mn-lt"/>
              </a:rPr>
              <a:t>sanity</a:t>
            </a:r>
            <a:r>
              <a:rPr lang="nl-BE" sz="1800" b="0" u="none" strike="noStrike" dirty="0">
                <a:effectLst/>
                <a:latin typeface="+mn-lt"/>
              </a:rPr>
              <a:t> check" </a:t>
            </a:r>
            <a:r>
              <a:rPr lang="nl-BE" sz="1800" b="0" u="none" strike="noStrike" dirty="0" err="1">
                <a:effectLst/>
                <a:latin typeface="+mn-lt"/>
              </a:rPr>
              <a:t>before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deployment</a:t>
            </a:r>
            <a:r>
              <a:rPr lang="nl-BE" sz="1800" b="0" u="none" strike="noStrike" dirty="0">
                <a:effectLst/>
                <a:latin typeface="+mn-lt"/>
              </a:rPr>
              <a:t>.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now</a:t>
            </a:r>
            <a:r>
              <a:rPr lang="nl-BE" sz="1800" b="0" u="none" strike="noStrike" dirty="0">
                <a:effectLst/>
                <a:latin typeface="+mn-lt"/>
              </a:rPr>
              <a:t> have </a:t>
            </a:r>
            <a:r>
              <a:rPr lang="nl-BE" sz="1800" b="1" u="none" strike="noStrike" dirty="0">
                <a:effectLst/>
                <a:latin typeface="+mn-lt"/>
              </a:rPr>
              <a:t>9 </a:t>
            </a:r>
            <a:r>
              <a:rPr lang="nl-BE" sz="1800" b="1" u="none" strike="noStrike" dirty="0" err="1">
                <a:effectLst/>
                <a:latin typeface="+mn-lt"/>
              </a:rPr>
              <a:t>remaining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blocks</a:t>
            </a:r>
            <a:r>
              <a:rPr lang="nl-BE" sz="1800" b="0" u="none" strike="noStrike" dirty="0">
                <a:effectLst/>
                <a:latin typeface="+mn-lt"/>
              </a:rPr>
              <a:t>.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Step 2: </a:t>
            </a:r>
            <a:r>
              <a:rPr lang="nl-BE" sz="1800" b="1" u="none" strike="noStrike" dirty="0" err="1">
                <a:effectLst/>
                <a:latin typeface="+mn-lt"/>
              </a:rPr>
              <a:t>Leave</a:t>
            </a:r>
            <a:r>
              <a:rPr lang="nl-BE" sz="1800" b="1" u="none" strike="noStrike" dirty="0">
                <a:effectLst/>
                <a:latin typeface="+mn-lt"/>
              </a:rPr>
              <a:t>-</a:t>
            </a:r>
            <a:r>
              <a:rPr lang="nl-BE" sz="1800" b="1" u="none" strike="noStrike" dirty="0" err="1">
                <a:effectLst/>
                <a:latin typeface="+mn-lt"/>
              </a:rPr>
              <a:t>One</a:t>
            </a:r>
            <a:r>
              <a:rPr lang="nl-BE" sz="1800" b="1" u="none" strike="noStrike" dirty="0">
                <a:effectLst/>
                <a:latin typeface="+mn-lt"/>
              </a:rPr>
              <a:t>-Block-Out (LOBO) Cross-</a:t>
            </a:r>
            <a:r>
              <a:rPr lang="nl-BE" sz="1800" b="1" u="none" strike="noStrike" dirty="0" err="1">
                <a:effectLst/>
                <a:latin typeface="+mn-lt"/>
              </a:rPr>
              <a:t>Validation</a:t>
            </a:r>
            <a:r>
              <a:rPr lang="nl-BE" sz="1800" b="1" u="none" strike="noStrike" dirty="0">
                <a:effectLst/>
                <a:latin typeface="+mn-lt"/>
              </a:rPr>
              <a:t> &amp; </a:t>
            </a:r>
            <a:r>
              <a:rPr lang="nl-BE" sz="1800" b="1" u="none" strike="noStrike" dirty="0" err="1">
                <a:effectLst/>
                <a:latin typeface="+mn-lt"/>
              </a:rPr>
              <a:t>Tuning</a:t>
            </a:r>
            <a:endParaRPr lang="nl-BE" sz="1800" b="1" u="none" strike="noStrike" dirty="0">
              <a:effectLst/>
              <a:latin typeface="+mn-lt"/>
            </a:endParaRP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nl-BE" sz="1800" b="0" u="none" strike="noStrike" dirty="0">
                <a:effectLst/>
                <a:latin typeface="+mn-lt"/>
              </a:rPr>
              <a:t>On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9 </a:t>
            </a:r>
            <a:r>
              <a:rPr lang="nl-BE" sz="1800" b="0" u="none" strike="noStrike" dirty="0" err="1">
                <a:effectLst/>
                <a:latin typeface="+mn-lt"/>
              </a:rPr>
              <a:t>remaining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blocks</a:t>
            </a:r>
            <a:r>
              <a:rPr lang="nl-BE" sz="1800" b="0" u="none" strike="noStrike" dirty="0">
                <a:effectLst/>
                <a:latin typeface="+mn-lt"/>
              </a:rPr>
              <a:t>, </a:t>
            </a:r>
            <a:r>
              <a:rPr lang="nl-BE" sz="1800" b="0" u="none" strike="noStrike" dirty="0" err="1">
                <a:effectLst/>
                <a:latin typeface="+mn-lt"/>
              </a:rPr>
              <a:t>perform</a:t>
            </a:r>
            <a:r>
              <a:rPr lang="nl-BE" sz="1800" b="0" u="none" strike="noStrike" dirty="0">
                <a:effectLst/>
                <a:latin typeface="+mn-lt"/>
              </a:rPr>
              <a:t> a </a:t>
            </a:r>
            <a:r>
              <a:rPr lang="nl-BE" sz="1800" b="1" u="none" strike="noStrike" dirty="0">
                <a:effectLst/>
                <a:latin typeface="+mn-lt"/>
              </a:rPr>
              <a:t>9-fold </a:t>
            </a:r>
            <a:r>
              <a:rPr lang="nl-BE" sz="1800" b="1" u="none" strike="noStrike" dirty="0" err="1">
                <a:effectLst/>
                <a:latin typeface="+mn-lt"/>
              </a:rPr>
              <a:t>Leave</a:t>
            </a:r>
            <a:r>
              <a:rPr lang="nl-BE" sz="1800" b="1" u="none" strike="noStrike" dirty="0">
                <a:effectLst/>
                <a:latin typeface="+mn-lt"/>
              </a:rPr>
              <a:t>-</a:t>
            </a:r>
            <a:r>
              <a:rPr lang="nl-BE" sz="1800" b="1" u="none" strike="noStrike" dirty="0" err="1">
                <a:effectLst/>
                <a:latin typeface="+mn-lt"/>
              </a:rPr>
              <a:t>One</a:t>
            </a:r>
            <a:r>
              <a:rPr lang="nl-BE" sz="1800" b="1" u="none" strike="noStrike" dirty="0">
                <a:effectLst/>
                <a:latin typeface="+mn-lt"/>
              </a:rPr>
              <a:t>-Block-Out CV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tune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hyperparameters (e.g., </a:t>
            </a:r>
            <a:r>
              <a:rPr lang="nl-BE" sz="1800" b="0" u="none" strike="noStrike" dirty="0" err="1">
                <a:effectLst/>
                <a:latin typeface="+mn-lt"/>
              </a:rPr>
              <a:t>learning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rate</a:t>
            </a:r>
            <a:r>
              <a:rPr lang="nl-BE" sz="1800" b="0" u="none" strike="noStrike" dirty="0">
                <a:effectLst/>
                <a:latin typeface="+mn-lt"/>
              </a:rPr>
              <a:t>, </a:t>
            </a:r>
            <a:r>
              <a:rPr lang="nl-BE" sz="1800" b="0" u="none" strike="noStrike" dirty="0" err="1">
                <a:effectLst/>
                <a:latin typeface="+mn-lt"/>
              </a:rPr>
              <a:t>network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layers</a:t>
            </a:r>
            <a:r>
              <a:rPr lang="nl-BE" sz="1800" b="0" u="none" strike="noStrike" dirty="0">
                <a:effectLst/>
                <a:latin typeface="+mn-lt"/>
              </a:rPr>
              <a:t>, </a:t>
            </a:r>
            <a:r>
              <a:rPr lang="nl-BE" sz="1800" b="0" u="none" strike="noStrike" dirty="0" err="1">
                <a:effectLst/>
                <a:latin typeface="+mn-lt"/>
              </a:rPr>
              <a:t>architecture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choice</a:t>
            </a:r>
            <a:r>
              <a:rPr lang="nl-BE" sz="1800" b="0" u="none" strike="noStrike" dirty="0">
                <a:effectLst/>
                <a:latin typeface="+mn-lt"/>
              </a:rPr>
              <a:t>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>
                <a:effectLst/>
                <a:latin typeface="+mn-lt"/>
              </a:rPr>
              <a:t>Iteration 1:</a:t>
            </a:r>
            <a:r>
              <a:rPr lang="nl-BE" sz="1800" b="0" u="none" strike="noStrike" dirty="0">
                <a:effectLst/>
                <a:latin typeface="+mn-lt"/>
              </a:rPr>
              <a:t> Train on Blocks 1–8. </a:t>
            </a:r>
            <a:r>
              <a:rPr lang="nl-BE" sz="1800" b="0" u="none" strike="noStrike" dirty="0" err="1">
                <a:effectLst/>
                <a:latin typeface="+mn-lt"/>
              </a:rPr>
              <a:t>Validate</a:t>
            </a:r>
            <a:r>
              <a:rPr lang="nl-BE" sz="1800" b="0" u="none" strike="noStrike" dirty="0">
                <a:effectLst/>
                <a:latin typeface="+mn-lt"/>
              </a:rPr>
              <a:t> on Block 9.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>
                <a:effectLst/>
                <a:latin typeface="+mn-lt"/>
              </a:rPr>
              <a:t>Iteration 2:</a:t>
            </a:r>
            <a:r>
              <a:rPr lang="nl-BE" sz="1800" b="0" u="none" strike="noStrike" dirty="0">
                <a:effectLst/>
                <a:latin typeface="+mn-lt"/>
              </a:rPr>
              <a:t> Train on Blocks 1–7 + 9. </a:t>
            </a:r>
            <a:r>
              <a:rPr lang="nl-BE" sz="1800" b="0" u="none" strike="noStrike" dirty="0" err="1">
                <a:effectLst/>
                <a:latin typeface="+mn-lt"/>
              </a:rPr>
              <a:t>Validate</a:t>
            </a:r>
            <a:r>
              <a:rPr lang="nl-BE" sz="1800" b="0" u="none" strike="noStrike" dirty="0">
                <a:effectLst/>
                <a:latin typeface="+mn-lt"/>
              </a:rPr>
              <a:t> on Block 8.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0" u="none" strike="noStrike" dirty="0">
                <a:effectLst/>
                <a:latin typeface="+mn-lt"/>
              </a:rPr>
              <a:t>... (Repeat 9 </a:t>
            </a:r>
            <a:r>
              <a:rPr lang="nl-BE" sz="1800" b="0" u="none" strike="noStrike" dirty="0" err="1">
                <a:effectLst/>
                <a:latin typeface="+mn-lt"/>
              </a:rPr>
              <a:t>times</a:t>
            </a:r>
            <a:r>
              <a:rPr lang="nl-BE" sz="1800" b="0" u="none" strike="noStrike" dirty="0">
                <a:effectLst/>
                <a:latin typeface="+mn-lt"/>
              </a:rPr>
              <a:t>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 err="1">
                <a:effectLst/>
                <a:latin typeface="+mn-lt"/>
              </a:rPr>
              <a:t>Calculate</a:t>
            </a:r>
            <a:r>
              <a:rPr lang="nl-BE" sz="1800" b="1" u="none" strike="noStrike" dirty="0">
                <a:effectLst/>
                <a:latin typeface="+mn-lt"/>
              </a:rPr>
              <a:t>: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Average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validation</a:t>
            </a:r>
            <a:r>
              <a:rPr lang="nl-BE" sz="1800" b="0" u="none" strike="noStrike" dirty="0">
                <a:effectLst/>
                <a:latin typeface="+mn-lt"/>
              </a:rPr>
              <a:t> performance </a:t>
            </a:r>
            <a:r>
              <a:rPr lang="nl-BE" sz="1800" b="0" u="none" strike="noStrike" dirty="0" err="1">
                <a:effectLst/>
                <a:latin typeface="+mn-lt"/>
              </a:rPr>
              <a:t>metrics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across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all</a:t>
            </a:r>
            <a:r>
              <a:rPr lang="nl-BE" sz="1800" b="0" u="none" strike="noStrike" dirty="0">
                <a:effectLst/>
                <a:latin typeface="+mn-lt"/>
              </a:rPr>
              <a:t> 9 runs. The hyperparameter </a:t>
            </a:r>
            <a:r>
              <a:rPr lang="nl-BE" sz="1800" b="0" u="none" strike="noStrike" dirty="0" err="1">
                <a:effectLst/>
                <a:latin typeface="+mn-lt"/>
              </a:rPr>
              <a:t>combination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with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highest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average</a:t>
            </a:r>
            <a:r>
              <a:rPr lang="nl-BE" sz="1800" b="0" u="none" strike="noStrike" dirty="0">
                <a:effectLst/>
                <a:latin typeface="+mn-lt"/>
              </a:rPr>
              <a:t> score </a:t>
            </a:r>
            <a:r>
              <a:rPr lang="nl-BE" sz="1800" b="0" u="none" strike="noStrike" dirty="0" err="1">
                <a:effectLst/>
                <a:latin typeface="+mn-lt"/>
              </a:rPr>
              <a:t>wins</a:t>
            </a:r>
            <a:r>
              <a:rPr lang="nl-BE" sz="1800" b="0" u="none" strike="noStrike" dirty="0">
                <a:effectLst/>
                <a:latin typeface="+mn-lt"/>
              </a:rPr>
              <a:t>.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Step 3: </a:t>
            </a:r>
            <a:r>
              <a:rPr lang="nl-BE" sz="1800" b="1" u="none" strike="noStrike" dirty="0" err="1">
                <a:effectLst/>
                <a:latin typeface="+mn-lt"/>
              </a:rPr>
              <a:t>Evaluate</a:t>
            </a:r>
            <a:r>
              <a:rPr lang="nl-BE" sz="1800" b="1" u="none" strike="noStrike" dirty="0">
                <a:effectLst/>
                <a:latin typeface="+mn-lt"/>
              </a:rPr>
              <a:t> on </a:t>
            </a:r>
            <a:r>
              <a:rPr lang="nl-BE" sz="1800" b="1" u="none" strike="noStrike" dirty="0" err="1">
                <a:effectLst/>
                <a:latin typeface="+mn-lt"/>
              </a:rPr>
              <a:t>the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Pristine</a:t>
            </a:r>
            <a:r>
              <a:rPr lang="nl-BE" sz="1800" b="1" u="none" strike="noStrike" dirty="0">
                <a:effectLst/>
                <a:latin typeface="+mn-lt"/>
              </a:rPr>
              <a:t> Test Set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nl-BE" sz="1800" b="0" u="none" strike="noStrike" dirty="0">
                <a:effectLst/>
                <a:latin typeface="+mn-lt"/>
              </a:rPr>
              <a:t>Take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winning hyperparameter </a:t>
            </a:r>
            <a:r>
              <a:rPr lang="nl-BE" sz="1800" b="0" u="none" strike="noStrike" dirty="0" err="1">
                <a:effectLst/>
                <a:latin typeface="+mn-lt"/>
              </a:rPr>
              <a:t>settings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from</a:t>
            </a:r>
            <a:r>
              <a:rPr lang="nl-BE" sz="1800" b="0" u="none" strike="noStrike" dirty="0">
                <a:effectLst/>
                <a:latin typeface="+mn-lt"/>
              </a:rPr>
              <a:t> Step 2. Train a model on </a:t>
            </a:r>
            <a:r>
              <a:rPr lang="nl-BE" sz="1800" b="1" u="none" strike="noStrike" dirty="0" err="1">
                <a:effectLst/>
                <a:latin typeface="+mn-lt"/>
              </a:rPr>
              <a:t>all</a:t>
            </a:r>
            <a:r>
              <a:rPr lang="nl-BE" sz="1800" b="1" u="none" strike="noStrike" dirty="0">
                <a:effectLst/>
                <a:latin typeface="+mn-lt"/>
              </a:rPr>
              <a:t> 9 </a:t>
            </a:r>
            <a:r>
              <a:rPr lang="nl-BE" sz="1800" b="1" u="none" strike="noStrike" dirty="0" err="1">
                <a:effectLst/>
                <a:latin typeface="+mn-lt"/>
              </a:rPr>
              <a:t>blocks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combined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test </a:t>
            </a:r>
            <a:r>
              <a:rPr lang="nl-BE" sz="1800" b="0" u="none" strike="noStrike" dirty="0" err="1">
                <a:effectLst/>
                <a:latin typeface="+mn-lt"/>
              </a:rPr>
              <a:t>its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accuracy</a:t>
            </a:r>
            <a:r>
              <a:rPr lang="nl-BE" sz="1800" b="0" u="none" strike="noStrike" dirty="0">
                <a:effectLst/>
                <a:latin typeface="+mn-lt"/>
              </a:rPr>
              <a:t> on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hidden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>
                <a:effectLst/>
                <a:latin typeface="+mn-lt"/>
              </a:rPr>
              <a:t>10th block</a:t>
            </a:r>
            <a:r>
              <a:rPr lang="nl-BE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0" u="none" strike="noStrike" dirty="0" err="1">
                <a:effectLst/>
                <a:latin typeface="+mn-lt"/>
              </a:rPr>
              <a:t>If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this</a:t>
            </a:r>
            <a:r>
              <a:rPr lang="nl-BE" sz="1800" b="0" u="none" strike="noStrike" dirty="0">
                <a:effectLst/>
                <a:latin typeface="+mn-lt"/>
              </a:rPr>
              <a:t> score matches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CV score, </a:t>
            </a:r>
            <a:r>
              <a:rPr lang="nl-BE" sz="1800" b="0" u="none" strike="noStrike" dirty="0" err="1">
                <a:effectLst/>
                <a:latin typeface="+mn-lt"/>
              </a:rPr>
              <a:t>it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proves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model </a:t>
            </a:r>
            <a:r>
              <a:rPr lang="nl-BE" sz="1800" b="0" u="none" strike="noStrike" dirty="0" err="1">
                <a:effectLst/>
                <a:latin typeface="+mn-lt"/>
              </a:rPr>
              <a:t>generalizes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beautifully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new </a:t>
            </a:r>
            <a:r>
              <a:rPr lang="nl-BE" sz="1800" b="0" u="none" strike="noStrike" dirty="0" err="1">
                <a:effectLst/>
                <a:latin typeface="+mn-lt"/>
              </a:rPr>
              <a:t>geographic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regions</a:t>
            </a:r>
            <a:r>
              <a:rPr lang="nl-BE" sz="1800" b="0" u="none" strike="noStrike" dirty="0">
                <a:effectLst/>
                <a:latin typeface="+mn-lt"/>
              </a:rPr>
              <a:t>.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Step 4: </a:t>
            </a:r>
            <a:r>
              <a:rPr lang="nl-BE" sz="1800" b="1" u="none" strike="noStrike" dirty="0" err="1">
                <a:effectLst/>
                <a:latin typeface="+mn-lt"/>
              </a:rPr>
              <a:t>Final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Retraining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and</a:t>
            </a:r>
            <a:r>
              <a:rPr lang="nl-BE" sz="1800" b="1" u="none" strike="noStrike" dirty="0">
                <a:effectLst/>
                <a:latin typeface="+mn-lt"/>
              </a:rPr>
              <a:t> Deployment 🚀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>
                <a:effectLst/>
                <a:latin typeface="+mn-lt"/>
              </a:rPr>
              <a:t>Option A (Standard </a:t>
            </a:r>
            <a:r>
              <a:rPr lang="nl-BE" sz="1800" b="1" u="none" strike="noStrike" dirty="0" err="1">
                <a:effectLst/>
                <a:latin typeface="+mn-lt"/>
              </a:rPr>
              <a:t>Practice</a:t>
            </a:r>
            <a:r>
              <a:rPr lang="nl-BE" sz="1800" b="1" u="none" strike="noStrike" dirty="0">
                <a:effectLst/>
                <a:latin typeface="+mn-lt"/>
              </a:rPr>
              <a:t>):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Retrain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model </a:t>
            </a:r>
            <a:r>
              <a:rPr lang="nl-BE" sz="1800" b="0" u="none" strike="noStrike" dirty="0" err="1">
                <a:effectLst/>
                <a:latin typeface="+mn-lt"/>
              </a:rPr>
              <a:t>with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chosen</a:t>
            </a:r>
            <a:r>
              <a:rPr lang="nl-BE" sz="1800" b="0" u="none" strike="noStrike" dirty="0">
                <a:effectLst/>
                <a:latin typeface="+mn-lt"/>
              </a:rPr>
              <a:t> hyperparameters on </a:t>
            </a:r>
            <a:r>
              <a:rPr lang="nl-BE" sz="1800" b="1" u="none" strike="noStrike" dirty="0" err="1">
                <a:effectLst/>
                <a:latin typeface="+mn-lt"/>
              </a:rPr>
              <a:t>all</a:t>
            </a:r>
            <a:r>
              <a:rPr lang="nl-BE" sz="1800" b="1" u="none" strike="noStrike" dirty="0">
                <a:effectLst/>
                <a:latin typeface="+mn-lt"/>
              </a:rPr>
              <a:t> 10 </a:t>
            </a:r>
            <a:r>
              <a:rPr lang="nl-BE" sz="1800" b="1" u="none" strike="noStrike" dirty="0" err="1">
                <a:effectLst/>
                <a:latin typeface="+mn-lt"/>
              </a:rPr>
              <a:t>blocks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combined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deploy</a:t>
            </a:r>
            <a:r>
              <a:rPr lang="nl-BE" sz="1800" b="0" u="none" strike="noStrike" dirty="0">
                <a:effectLst/>
                <a:latin typeface="+mn-lt"/>
              </a:rPr>
              <a:t>. </a:t>
            </a:r>
            <a:r>
              <a:rPr lang="nl-BE" sz="1800" b="0" u="none" strike="noStrike" dirty="0" err="1">
                <a:effectLst/>
                <a:latin typeface="+mn-lt"/>
              </a:rPr>
              <a:t>By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including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10th block,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give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neural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network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maximum </a:t>
            </a:r>
            <a:r>
              <a:rPr lang="nl-BE" sz="1800" b="0" u="none" strike="noStrike" dirty="0" err="1">
                <a:effectLst/>
                <a:latin typeface="+mn-lt"/>
              </a:rPr>
              <a:t>possible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spatial</a:t>
            </a:r>
            <a:r>
              <a:rPr lang="nl-BE" sz="1800" b="0" u="none" strike="noStrike" dirty="0">
                <a:effectLst/>
                <a:latin typeface="+mn-lt"/>
              </a:rPr>
              <a:t> context, features,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geography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before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it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goes</a:t>
            </a:r>
            <a:r>
              <a:rPr lang="nl-BE" sz="1800" b="0" u="none" strike="noStrike" dirty="0">
                <a:effectLst/>
                <a:latin typeface="+mn-lt"/>
              </a:rPr>
              <a:t> live.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>
                <a:effectLst/>
                <a:latin typeface="+mn-lt"/>
              </a:rPr>
              <a:t>Option B (Conservative </a:t>
            </a:r>
            <a:r>
              <a:rPr lang="nl-BE" sz="1800" b="1" u="none" strike="noStrike" dirty="0" err="1">
                <a:effectLst/>
                <a:latin typeface="+mn-lt"/>
              </a:rPr>
              <a:t>Deep</a:t>
            </a:r>
            <a:r>
              <a:rPr lang="nl-BE" sz="1800" b="1" u="none" strike="noStrike" dirty="0">
                <a:effectLst/>
                <a:latin typeface="+mn-lt"/>
              </a:rPr>
              <a:t> Learning </a:t>
            </a:r>
            <a:r>
              <a:rPr lang="nl-BE" sz="1800" b="1" u="none" strike="noStrike" dirty="0" err="1">
                <a:effectLst/>
                <a:latin typeface="+mn-lt"/>
              </a:rPr>
              <a:t>Alternative</a:t>
            </a:r>
            <a:r>
              <a:rPr lang="nl-BE" sz="1800" b="1" u="none" strike="noStrike" dirty="0">
                <a:effectLst/>
                <a:latin typeface="+mn-lt"/>
              </a:rPr>
              <a:t>):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If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deep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learning</a:t>
            </a:r>
            <a:r>
              <a:rPr lang="nl-BE" sz="1800" b="0" u="none" strike="noStrike" dirty="0">
                <a:effectLst/>
                <a:latin typeface="+mn-lt"/>
              </a:rPr>
              <a:t> model is </a:t>
            </a:r>
            <a:r>
              <a:rPr lang="nl-BE" sz="1800" b="0" u="none" strike="noStrike" dirty="0" err="1">
                <a:effectLst/>
                <a:latin typeface="+mn-lt"/>
              </a:rPr>
              <a:t>prone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wild training </a:t>
            </a:r>
            <a:r>
              <a:rPr lang="nl-BE" sz="1800" b="0" u="none" strike="noStrike" dirty="0" err="1">
                <a:effectLst/>
                <a:latin typeface="+mn-lt"/>
              </a:rPr>
              <a:t>instability</a:t>
            </a:r>
            <a:r>
              <a:rPr lang="nl-BE" sz="1800" b="0" u="none" strike="noStrike" dirty="0">
                <a:effectLst/>
                <a:latin typeface="+mn-lt"/>
              </a:rPr>
              <a:t>, or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cannot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reliably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figure</a:t>
            </a:r>
            <a:r>
              <a:rPr lang="nl-BE" sz="1800" b="0" u="none" strike="noStrike" dirty="0">
                <a:effectLst/>
                <a:latin typeface="+mn-lt"/>
              </a:rPr>
              <a:t> out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exact </a:t>
            </a:r>
            <a:r>
              <a:rPr lang="nl-BE" sz="1800" b="0" u="none" strike="noStrike" dirty="0" err="1">
                <a:effectLst/>
                <a:latin typeface="+mn-lt"/>
              </a:rPr>
              <a:t>number</a:t>
            </a:r>
            <a:r>
              <a:rPr lang="nl-BE" sz="1800" b="0" u="none" strike="noStrike" dirty="0">
                <a:effectLst/>
                <a:latin typeface="+mn-lt"/>
              </a:rPr>
              <a:t> of </a:t>
            </a:r>
            <a:r>
              <a:rPr lang="nl-BE" sz="1800" b="0" u="none" strike="noStrike" dirty="0" err="1">
                <a:effectLst/>
                <a:latin typeface="+mn-lt"/>
              </a:rPr>
              <a:t>epochs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train </a:t>
            </a:r>
            <a:r>
              <a:rPr lang="nl-BE" sz="1800" b="0" u="none" strike="noStrike" dirty="0" err="1">
                <a:effectLst/>
                <a:latin typeface="+mn-lt"/>
              </a:rPr>
              <a:t>for</a:t>
            </a:r>
            <a:r>
              <a:rPr lang="nl-BE" sz="1800" b="0" u="none" strike="noStrike" dirty="0">
                <a:effectLst/>
                <a:latin typeface="+mn-lt"/>
              </a:rPr>
              <a:t> without a </a:t>
            </a:r>
            <a:r>
              <a:rPr lang="nl-BE" sz="1800" b="0" u="none" strike="noStrike" dirty="0" err="1">
                <a:effectLst/>
                <a:latin typeface="+mn-lt"/>
              </a:rPr>
              <a:t>validation</a:t>
            </a:r>
            <a:r>
              <a:rPr lang="nl-BE" sz="1800" b="0" u="none" strike="noStrike" dirty="0">
                <a:effectLst/>
                <a:latin typeface="+mn-lt"/>
              </a:rPr>
              <a:t> set, </a:t>
            </a:r>
            <a:r>
              <a:rPr lang="nl-BE" sz="1800" b="1" u="none" strike="noStrike" dirty="0" err="1">
                <a:effectLst/>
                <a:latin typeface="+mn-lt"/>
              </a:rPr>
              <a:t>deploy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the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final</a:t>
            </a:r>
            <a:r>
              <a:rPr lang="nl-BE" sz="1800" b="1" u="none" strike="noStrike" dirty="0">
                <a:effectLst/>
                <a:latin typeface="+mn-lt"/>
              </a:rPr>
              <a:t> model </a:t>
            </a:r>
            <a:r>
              <a:rPr lang="nl-BE" sz="1800" b="1" u="none" strike="noStrike" dirty="0" err="1">
                <a:effectLst/>
                <a:latin typeface="+mn-lt"/>
              </a:rPr>
              <a:t>from</a:t>
            </a:r>
            <a:r>
              <a:rPr lang="nl-BE" sz="1800" b="1" u="none" strike="noStrike" dirty="0">
                <a:effectLst/>
                <a:latin typeface="+mn-lt"/>
              </a:rPr>
              <a:t> Step 3</a:t>
            </a:r>
            <a:r>
              <a:rPr lang="nl-BE" sz="1800" b="0" u="none" strike="noStrike" dirty="0">
                <a:effectLst/>
                <a:latin typeface="+mn-lt"/>
              </a:rPr>
              <a:t> (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one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trained</a:t>
            </a:r>
            <a:r>
              <a:rPr lang="nl-BE" sz="1800" b="0" u="none" strike="noStrike" dirty="0">
                <a:effectLst/>
                <a:latin typeface="+mn-lt"/>
              </a:rPr>
              <a:t> on 9 </a:t>
            </a:r>
            <a:r>
              <a:rPr lang="nl-BE" sz="1800" b="0" u="none" strike="noStrike" dirty="0" err="1">
                <a:effectLst/>
                <a:latin typeface="+mn-lt"/>
              </a:rPr>
              <a:t>blocks</a:t>
            </a:r>
            <a:r>
              <a:rPr lang="nl-BE" sz="1800" b="0" u="none" strike="noStrike" dirty="0">
                <a:effectLst/>
                <a:latin typeface="+mn-lt"/>
              </a:rPr>
              <a:t>).</a:t>
            </a:r>
          </a:p>
          <a:p>
            <a:pPr>
              <a:buNone/>
            </a:pPr>
            <a:br>
              <a:rPr lang="nl-BE" dirty="0"/>
            </a:br>
            <a:endParaRPr lang="nl-BE" dirty="0"/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 err="1">
                <a:effectLst/>
                <a:latin typeface="+mn-lt"/>
              </a:rPr>
              <a:t>Why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you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should</a:t>
            </a:r>
            <a:r>
              <a:rPr lang="nl-BE" sz="1800" b="1" u="none" strike="noStrike" dirty="0">
                <a:effectLst/>
                <a:latin typeface="+mn-lt"/>
              </a:rPr>
              <a:t> NOT do </a:t>
            </a:r>
            <a:r>
              <a:rPr lang="nl-BE" sz="1800" b="1" u="none" strike="noStrike" dirty="0" err="1">
                <a:effectLst/>
                <a:latin typeface="+mn-lt"/>
              </a:rPr>
              <a:t>the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other</a:t>
            </a:r>
            <a:r>
              <a:rPr lang="nl-BE" sz="1800" b="1" u="none" strike="noStrike" dirty="0">
                <a:effectLst/>
                <a:latin typeface="+mn-lt"/>
              </a:rPr>
              <a:t> options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❌ </a:t>
            </a:r>
            <a:r>
              <a:rPr lang="nl-BE" sz="1800" b="1" u="none" strike="noStrike" dirty="0" err="1">
                <a:effectLst/>
                <a:latin typeface="+mn-lt"/>
              </a:rPr>
              <a:t>Don't</a:t>
            </a:r>
            <a:r>
              <a:rPr lang="nl-BE" sz="1800" b="1" u="none" strike="noStrike" dirty="0">
                <a:effectLst/>
                <a:latin typeface="+mn-lt"/>
              </a:rPr>
              <a:t>: "</a:t>
            </a:r>
            <a:r>
              <a:rPr lang="nl-BE" sz="1800" b="1" u="none" strike="noStrike" dirty="0" err="1">
                <a:effectLst/>
                <a:latin typeface="+mn-lt"/>
              </a:rPr>
              <a:t>Deploy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the</a:t>
            </a:r>
            <a:r>
              <a:rPr lang="nl-BE" sz="1800" b="1" u="none" strike="noStrike" dirty="0">
                <a:effectLst/>
                <a:latin typeface="+mn-lt"/>
              </a:rPr>
              <a:t> 10 separate cross-</a:t>
            </a:r>
            <a:r>
              <a:rPr lang="nl-BE" sz="1800" b="1" u="none" strike="noStrike" dirty="0" err="1">
                <a:effectLst/>
                <a:latin typeface="+mn-lt"/>
              </a:rPr>
              <a:t>validated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models</a:t>
            </a:r>
            <a:r>
              <a:rPr lang="nl-BE" sz="1800" b="1" u="none" strike="noStrike" dirty="0">
                <a:effectLst/>
                <a:latin typeface="+mn-lt"/>
              </a:rPr>
              <a:t> as </a:t>
            </a:r>
            <a:r>
              <a:rPr lang="nl-BE" sz="1800" b="1" u="none" strike="noStrike" dirty="0" err="1">
                <a:effectLst/>
                <a:latin typeface="+mn-lt"/>
              </a:rPr>
              <a:t>an</a:t>
            </a:r>
            <a:r>
              <a:rPr lang="nl-BE" sz="1800" b="1" u="none" strike="noStrike" dirty="0">
                <a:effectLst/>
                <a:latin typeface="+mn-lt"/>
              </a:rPr>
              <a:t> ensemble"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nl-BE" sz="1800" b="0" u="none" strike="noStrike" dirty="0" err="1">
                <a:effectLst/>
                <a:latin typeface="+mn-lt"/>
              </a:rPr>
              <a:t>While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deploying</a:t>
            </a:r>
            <a:r>
              <a:rPr lang="nl-BE" sz="1800" b="0" u="none" strike="noStrike" dirty="0">
                <a:effectLst/>
                <a:latin typeface="+mn-lt"/>
              </a:rPr>
              <a:t> 10 </a:t>
            </a:r>
            <a:r>
              <a:rPr lang="nl-BE" sz="1800" b="0" u="none" strike="noStrike" dirty="0" err="1">
                <a:effectLst/>
                <a:latin typeface="+mn-lt"/>
              </a:rPr>
              <a:t>models</a:t>
            </a:r>
            <a:r>
              <a:rPr lang="nl-BE" sz="1800" b="0" u="none" strike="noStrike" dirty="0">
                <a:effectLst/>
                <a:latin typeface="+mn-lt"/>
              </a:rPr>
              <a:t> (</a:t>
            </a:r>
            <a:r>
              <a:rPr lang="nl-BE" sz="1800" b="0" u="none" strike="noStrike" dirty="0" err="1">
                <a:effectLst/>
                <a:latin typeface="+mn-lt"/>
              </a:rPr>
              <a:t>an</a:t>
            </a:r>
            <a:r>
              <a:rPr lang="nl-BE" sz="1800" b="0" u="none" strike="noStrike" dirty="0">
                <a:effectLst/>
                <a:latin typeface="+mn-lt"/>
              </a:rPr>
              <a:t> ensemble) </a:t>
            </a:r>
            <a:r>
              <a:rPr lang="nl-BE" sz="1800" b="0" u="none" strike="noStrike" dirty="0" err="1">
                <a:effectLst/>
                <a:latin typeface="+mn-lt"/>
              </a:rPr>
              <a:t>can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yield</a:t>
            </a:r>
            <a:r>
              <a:rPr lang="nl-BE" sz="1800" b="0" u="none" strike="noStrike" dirty="0">
                <a:effectLst/>
                <a:latin typeface="+mn-lt"/>
              </a:rPr>
              <a:t> small performance </a:t>
            </a:r>
            <a:r>
              <a:rPr lang="nl-BE" sz="1800" b="0" u="none" strike="noStrike" dirty="0" err="1">
                <a:effectLst/>
                <a:latin typeface="+mn-lt"/>
              </a:rPr>
              <a:t>gains</a:t>
            </a:r>
            <a:r>
              <a:rPr lang="nl-BE" sz="1800" b="0" u="none" strike="noStrike" dirty="0">
                <a:effectLst/>
                <a:latin typeface="+mn-lt"/>
              </a:rPr>
              <a:t>, </a:t>
            </a:r>
            <a:r>
              <a:rPr lang="nl-BE" sz="1800" b="0" u="none" strike="noStrike" dirty="0" err="1">
                <a:effectLst/>
                <a:latin typeface="+mn-lt"/>
              </a:rPr>
              <a:t>it</a:t>
            </a:r>
            <a:r>
              <a:rPr lang="nl-BE" sz="1800" b="0" u="none" strike="noStrike" dirty="0">
                <a:effectLst/>
                <a:latin typeface="+mn-lt"/>
              </a:rPr>
              <a:t> is </a:t>
            </a:r>
            <a:r>
              <a:rPr lang="nl-BE" sz="1800" b="0" u="none" strike="noStrike" dirty="0" err="1">
                <a:effectLst/>
                <a:latin typeface="+mn-lt"/>
              </a:rPr>
              <a:t>highly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discouraged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for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deep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learning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pipelines</a:t>
            </a:r>
            <a:r>
              <a:rPr lang="nl-BE" sz="1800" b="0" u="none" strike="noStrike" dirty="0">
                <a:effectLst/>
                <a:latin typeface="+mn-lt"/>
              </a:rPr>
              <a:t>. [</a:t>
            </a:r>
            <a:r>
              <a:rPr lang="nl-BE" sz="1800" b="0" u="none" strike="noStrike" dirty="0">
                <a:effectLst/>
                <a:latin typeface="+mn-lt"/>
                <a:hlinkClick r:id="rId2"/>
              </a:rPr>
              <a:t>1</a:t>
            </a:r>
            <a:r>
              <a:rPr lang="nl-BE" sz="1800" b="0" u="none" strike="noStrike" dirty="0">
                <a:effectLst/>
                <a:latin typeface="+mn-lt"/>
              </a:rPr>
              <a:t>]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>
                <a:effectLst/>
                <a:latin typeface="+mn-lt"/>
              </a:rPr>
              <a:t>The </a:t>
            </a:r>
            <a:r>
              <a:rPr lang="nl-BE" sz="1800" b="1" u="none" strike="noStrike" dirty="0" err="1">
                <a:effectLst/>
                <a:latin typeface="+mn-lt"/>
              </a:rPr>
              <a:t>Cost</a:t>
            </a:r>
            <a:r>
              <a:rPr lang="nl-BE" sz="1800" b="1" u="none" strike="noStrike" dirty="0">
                <a:effectLst/>
                <a:latin typeface="+mn-lt"/>
              </a:rPr>
              <a:t>: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Deep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learning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models</a:t>
            </a:r>
            <a:r>
              <a:rPr lang="nl-BE" sz="1800" b="0" u="none" strike="noStrike" dirty="0">
                <a:effectLst/>
                <a:latin typeface="+mn-lt"/>
              </a:rPr>
              <a:t> are </a:t>
            </a:r>
            <a:r>
              <a:rPr lang="nl-BE" sz="1800" b="0" u="none" strike="noStrike" dirty="0" err="1">
                <a:effectLst/>
                <a:latin typeface="+mn-lt"/>
              </a:rPr>
              <a:t>massive</a:t>
            </a:r>
            <a:r>
              <a:rPr lang="nl-BE" sz="1800" b="0" u="none" strike="noStrike" dirty="0">
                <a:effectLst/>
                <a:latin typeface="+mn-lt"/>
              </a:rPr>
              <a:t>. </a:t>
            </a:r>
            <a:r>
              <a:rPr lang="nl-BE" sz="1800" b="0" u="none" strike="noStrike" dirty="0" err="1">
                <a:effectLst/>
                <a:latin typeface="+mn-lt"/>
              </a:rPr>
              <a:t>Deploying</a:t>
            </a:r>
            <a:r>
              <a:rPr lang="nl-BE" sz="1800" b="0" u="none" strike="noStrike" dirty="0">
                <a:effectLst/>
                <a:latin typeface="+mn-lt"/>
              </a:rPr>
              <a:t>, hosting,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running </a:t>
            </a:r>
            <a:r>
              <a:rPr lang="nl-BE" sz="1800" b="0" u="none" strike="noStrike" dirty="0" err="1">
                <a:effectLst/>
                <a:latin typeface="+mn-lt"/>
              </a:rPr>
              <a:t>inference</a:t>
            </a:r>
            <a:r>
              <a:rPr lang="nl-BE" sz="1800" b="0" u="none" strike="noStrike" dirty="0">
                <a:effectLst/>
                <a:latin typeface="+mn-lt"/>
              </a:rPr>
              <a:t> on 10 separate </a:t>
            </a:r>
            <a:r>
              <a:rPr lang="nl-BE" sz="1800" b="0" u="none" strike="noStrike" dirty="0" err="1">
                <a:effectLst/>
                <a:latin typeface="+mn-lt"/>
              </a:rPr>
              <a:t>neural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networks</a:t>
            </a:r>
            <a:r>
              <a:rPr lang="nl-BE" sz="1800" b="0" u="none" strike="noStrike" dirty="0">
                <a:effectLst/>
                <a:latin typeface="+mn-lt"/>
              </a:rPr>
              <a:t> in </a:t>
            </a:r>
            <a:r>
              <a:rPr lang="nl-BE" sz="1800" b="0" u="none" strike="noStrike" dirty="0" err="1">
                <a:effectLst/>
                <a:latin typeface="+mn-lt"/>
              </a:rPr>
              <a:t>production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multiplies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cloud computing, storage,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API </a:t>
            </a:r>
            <a:r>
              <a:rPr lang="nl-BE" sz="1800" b="0" u="none" strike="noStrike" dirty="0" err="1">
                <a:effectLst/>
                <a:latin typeface="+mn-lt"/>
              </a:rPr>
              <a:t>latency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costs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by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>
                <a:effectLst/>
                <a:latin typeface="+mn-lt"/>
              </a:rPr>
              <a:t>10x</a:t>
            </a:r>
            <a:r>
              <a:rPr lang="nl-BE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1" u="none" strike="noStrike" dirty="0">
                <a:effectLst/>
                <a:latin typeface="+mn-lt"/>
              </a:rPr>
              <a:t>The </a:t>
            </a:r>
            <a:r>
              <a:rPr lang="nl-BE" sz="1800" b="1" u="none" strike="noStrike" dirty="0" err="1">
                <a:effectLst/>
                <a:latin typeface="+mn-lt"/>
              </a:rPr>
              <a:t>Complexity</a:t>
            </a:r>
            <a:r>
              <a:rPr lang="nl-BE" sz="1800" b="1" u="none" strike="noStrike" dirty="0">
                <a:effectLst/>
                <a:latin typeface="+mn-lt"/>
              </a:rPr>
              <a:t>: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would</a:t>
            </a:r>
            <a:r>
              <a:rPr lang="nl-BE" sz="1800" b="0" u="none" strike="noStrike" dirty="0">
                <a:effectLst/>
                <a:latin typeface="+mn-lt"/>
              </a:rPr>
              <a:t> have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pass </a:t>
            </a:r>
            <a:r>
              <a:rPr lang="nl-BE" sz="1800" b="0" u="none" strike="noStrike" dirty="0" err="1">
                <a:effectLst/>
                <a:latin typeface="+mn-lt"/>
              </a:rPr>
              <a:t>every</a:t>
            </a:r>
            <a:r>
              <a:rPr lang="nl-BE" sz="1800" b="0" u="none" strike="noStrike" dirty="0">
                <a:effectLst/>
                <a:latin typeface="+mn-lt"/>
              </a:rPr>
              <a:t> new piece of </a:t>
            </a:r>
            <a:r>
              <a:rPr lang="nl-BE" sz="1800" b="0" u="none" strike="noStrike" dirty="0" err="1">
                <a:effectLst/>
                <a:latin typeface="+mn-lt"/>
              </a:rPr>
              <a:t>geographical</a:t>
            </a:r>
            <a:r>
              <a:rPr lang="nl-BE" sz="1800" b="0" u="none" strike="noStrike" dirty="0">
                <a:effectLst/>
                <a:latin typeface="+mn-lt"/>
              </a:rPr>
              <a:t> data </a:t>
            </a:r>
            <a:r>
              <a:rPr lang="nl-BE" sz="1800" b="0" u="none" strike="noStrike" dirty="0" err="1">
                <a:effectLst/>
                <a:latin typeface="+mn-lt"/>
              </a:rPr>
              <a:t>through</a:t>
            </a:r>
            <a:r>
              <a:rPr lang="nl-BE" sz="1800" b="0" u="none" strike="noStrike" dirty="0">
                <a:effectLst/>
                <a:latin typeface="+mn-lt"/>
              </a:rPr>
              <a:t> 10 </a:t>
            </a:r>
            <a:r>
              <a:rPr lang="nl-BE" sz="1800" b="0" u="none" strike="noStrike" dirty="0" err="1">
                <a:effectLst/>
                <a:latin typeface="+mn-lt"/>
              </a:rPr>
              <a:t>models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compute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average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prediction</a:t>
            </a:r>
            <a:r>
              <a:rPr lang="nl-BE" sz="1800" b="0" u="none" strike="noStrike" dirty="0">
                <a:effectLst/>
                <a:latin typeface="+mn-lt"/>
              </a:rPr>
              <a:t>, </a:t>
            </a:r>
            <a:r>
              <a:rPr lang="nl-BE" sz="1800" b="0" u="none" strike="noStrike" dirty="0" err="1">
                <a:effectLst/>
                <a:latin typeface="+mn-lt"/>
              </a:rPr>
              <a:t>complicating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serving</a:t>
            </a:r>
            <a:r>
              <a:rPr lang="nl-BE" sz="1800" b="0" u="none" strike="noStrike" dirty="0">
                <a:effectLst/>
                <a:latin typeface="+mn-lt"/>
              </a:rPr>
              <a:t> pipeline.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nl-BE" sz="1800" b="1" u="none" strike="noStrike" dirty="0">
                <a:effectLst/>
                <a:latin typeface="+mn-lt"/>
              </a:rPr>
              <a:t>❌ </a:t>
            </a:r>
            <a:r>
              <a:rPr lang="nl-BE" sz="1800" b="1" u="none" strike="noStrike" dirty="0" err="1">
                <a:effectLst/>
                <a:latin typeface="+mn-lt"/>
              </a:rPr>
              <a:t>Don't</a:t>
            </a:r>
            <a:r>
              <a:rPr lang="nl-BE" sz="1800" b="1" u="none" strike="noStrike" dirty="0">
                <a:effectLst/>
                <a:latin typeface="+mn-lt"/>
              </a:rPr>
              <a:t>: "</a:t>
            </a:r>
            <a:r>
              <a:rPr lang="nl-BE" sz="1800" b="1" u="none" strike="noStrike" dirty="0" err="1">
                <a:effectLst/>
                <a:latin typeface="+mn-lt"/>
              </a:rPr>
              <a:t>Deploy</a:t>
            </a:r>
            <a:r>
              <a:rPr lang="nl-BE" sz="1800" b="1" u="none" strike="noStrike" dirty="0">
                <a:effectLst/>
                <a:latin typeface="+mn-lt"/>
              </a:rPr>
              <a:t> a single </a:t>
            </a:r>
            <a:r>
              <a:rPr lang="nl-BE" sz="1800" b="1" u="none" strike="noStrike" dirty="0" err="1">
                <a:effectLst/>
                <a:latin typeface="+mn-lt"/>
              </a:rPr>
              <a:t>fold's</a:t>
            </a:r>
            <a:r>
              <a:rPr lang="nl-BE" sz="1800" b="1" u="none" strike="noStrike" dirty="0">
                <a:effectLst/>
                <a:latin typeface="+mn-lt"/>
              </a:rPr>
              <a:t> model without </a:t>
            </a:r>
            <a:r>
              <a:rPr lang="nl-BE" sz="1800" b="1" u="none" strike="noStrike" dirty="0" err="1">
                <a:effectLst/>
                <a:latin typeface="+mn-lt"/>
              </a:rPr>
              <a:t>retraining</a:t>
            </a:r>
            <a:r>
              <a:rPr lang="nl-BE" sz="1800" b="1" u="none" strike="noStrike" dirty="0">
                <a:effectLst/>
                <a:latin typeface="+mn-lt"/>
              </a:rPr>
              <a:t>"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nl-BE" sz="1800" b="0" u="none" strike="noStrike" dirty="0" err="1">
                <a:effectLst/>
                <a:latin typeface="+mn-lt"/>
              </a:rPr>
              <a:t>If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just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pick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model </a:t>
            </a:r>
            <a:r>
              <a:rPr lang="nl-BE" sz="1800" b="0" u="none" strike="noStrike" dirty="0" err="1">
                <a:effectLst/>
                <a:latin typeface="+mn-lt"/>
              </a:rPr>
              <a:t>from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Fold</a:t>
            </a:r>
            <a:r>
              <a:rPr lang="nl-BE" sz="1800" b="0" u="none" strike="noStrike" dirty="0">
                <a:effectLst/>
                <a:latin typeface="+mn-lt"/>
              </a:rPr>
              <a:t> 1 (</a:t>
            </a:r>
            <a:r>
              <a:rPr lang="nl-BE" sz="1800" b="0" u="none" strike="noStrike" dirty="0" err="1">
                <a:effectLst/>
                <a:latin typeface="+mn-lt"/>
              </a:rPr>
              <a:t>trained</a:t>
            </a:r>
            <a:r>
              <a:rPr lang="nl-BE" sz="1800" b="0" u="none" strike="noStrike" dirty="0">
                <a:effectLst/>
                <a:latin typeface="+mn-lt"/>
              </a:rPr>
              <a:t> on 8 </a:t>
            </a:r>
            <a:r>
              <a:rPr lang="nl-BE" sz="1800" b="0" u="none" strike="noStrike" dirty="0" err="1">
                <a:effectLst/>
                <a:latin typeface="+mn-lt"/>
              </a:rPr>
              <a:t>blocks</a:t>
            </a:r>
            <a:r>
              <a:rPr lang="nl-BE" sz="1800" b="0" u="none" strike="noStrike" dirty="0">
                <a:effectLst/>
                <a:latin typeface="+mn-lt"/>
              </a:rPr>
              <a:t>) </a:t>
            </a:r>
            <a:r>
              <a:rPr lang="nl-BE" sz="1800" b="0" u="none" strike="noStrike" dirty="0" err="1">
                <a:effectLst/>
                <a:latin typeface="+mn-lt"/>
              </a:rPr>
              <a:t>and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deploy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it</a:t>
            </a:r>
            <a:r>
              <a:rPr lang="nl-BE" sz="1800" b="0" u="none" strike="noStrike" dirty="0">
                <a:effectLst/>
                <a:latin typeface="+mn-lt"/>
              </a:rPr>
              <a:t>,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are </a:t>
            </a:r>
            <a:r>
              <a:rPr lang="nl-BE" sz="1800" b="0" u="none" strike="noStrike" dirty="0" err="1">
                <a:effectLst/>
                <a:latin typeface="+mn-lt"/>
              </a:rPr>
              <a:t>actively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wasting</a:t>
            </a:r>
            <a:r>
              <a:rPr lang="nl-BE" sz="1800" b="0" u="none" strike="noStrike" dirty="0">
                <a:effectLst/>
                <a:latin typeface="+mn-lt"/>
              </a:rPr>
              <a:t> 10%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20% of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data. In </a:t>
            </a:r>
            <a:r>
              <a:rPr lang="nl-BE" sz="1800" b="0" u="none" strike="noStrike" dirty="0" err="1">
                <a:effectLst/>
                <a:latin typeface="+mn-lt"/>
              </a:rPr>
              <a:t>deep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learning</a:t>
            </a:r>
            <a:r>
              <a:rPr lang="nl-BE" sz="1800" b="0" u="none" strike="noStrike" dirty="0">
                <a:effectLst/>
                <a:latin typeface="+mn-lt"/>
              </a:rPr>
              <a:t>, data is </a:t>
            </a:r>
            <a:r>
              <a:rPr lang="nl-BE" sz="1800" b="0" u="none" strike="noStrike" dirty="0" err="1">
                <a:effectLst/>
                <a:latin typeface="+mn-lt"/>
              </a:rPr>
              <a:t>king</a:t>
            </a:r>
            <a:r>
              <a:rPr lang="nl-BE" sz="1800" b="0" u="none" strike="noStrike" dirty="0">
                <a:effectLst/>
                <a:latin typeface="+mn-lt"/>
              </a:rPr>
              <a:t>. </a:t>
            </a:r>
            <a:r>
              <a:rPr lang="nl-BE" sz="1800" b="0" u="none" strike="noStrike" dirty="0" err="1">
                <a:effectLst/>
                <a:latin typeface="+mn-lt"/>
              </a:rPr>
              <a:t>Leaving</a:t>
            </a:r>
            <a:r>
              <a:rPr lang="nl-BE" sz="1800" b="0" u="none" strike="noStrike" dirty="0">
                <a:effectLst/>
                <a:latin typeface="+mn-lt"/>
              </a:rPr>
              <a:t> out </a:t>
            </a:r>
            <a:r>
              <a:rPr lang="nl-BE" sz="1800" b="0" u="none" strike="noStrike" dirty="0" err="1">
                <a:effectLst/>
                <a:latin typeface="+mn-lt"/>
              </a:rPr>
              <a:t>entire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geographic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regions</a:t>
            </a:r>
            <a:r>
              <a:rPr lang="nl-BE" sz="1800" b="0" u="none" strike="noStrike" dirty="0">
                <a:effectLst/>
                <a:latin typeface="+mn-lt"/>
              </a:rPr>
              <a:t> means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model </a:t>
            </a:r>
            <a:r>
              <a:rPr lang="nl-BE" sz="1800" b="0" u="none" strike="noStrike" dirty="0" err="1">
                <a:effectLst/>
                <a:latin typeface="+mn-lt"/>
              </a:rPr>
              <a:t>will</a:t>
            </a:r>
            <a:r>
              <a:rPr lang="nl-BE" sz="1800" b="0" u="none" strike="noStrike" dirty="0">
                <a:effectLst/>
                <a:latin typeface="+mn-lt"/>
              </a:rPr>
              <a:t> go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production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completely</a:t>
            </a:r>
            <a:r>
              <a:rPr lang="nl-BE" sz="1800" b="0" u="none" strike="noStrike" dirty="0">
                <a:effectLst/>
                <a:latin typeface="+mn-lt"/>
              </a:rPr>
              <a:t> blind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the</a:t>
            </a:r>
            <a:r>
              <a:rPr lang="nl-BE" sz="1800" b="0" u="none" strike="noStrike" dirty="0">
                <a:effectLst/>
                <a:latin typeface="+mn-lt"/>
              </a:rPr>
              <a:t> land features, </a:t>
            </a:r>
            <a:r>
              <a:rPr lang="nl-BE" sz="1800" b="0" u="none" strike="noStrike" dirty="0" err="1">
                <a:effectLst/>
                <a:latin typeface="+mn-lt"/>
              </a:rPr>
              <a:t>climates</a:t>
            </a:r>
            <a:r>
              <a:rPr lang="nl-BE" sz="1800" b="0" u="none" strike="noStrike" dirty="0">
                <a:effectLst/>
                <a:latin typeface="+mn-lt"/>
              </a:rPr>
              <a:t>, or </a:t>
            </a:r>
            <a:r>
              <a:rPr lang="nl-BE" sz="1800" b="0" u="none" strike="noStrike" dirty="0" err="1">
                <a:effectLst/>
                <a:latin typeface="+mn-lt"/>
              </a:rPr>
              <a:t>urban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layouts</a:t>
            </a:r>
            <a:r>
              <a:rPr lang="nl-BE" sz="1800" b="0" u="none" strike="noStrike" dirty="0">
                <a:effectLst/>
                <a:latin typeface="+mn-lt"/>
              </a:rPr>
              <a:t> inherent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those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excluded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blocks</a:t>
            </a:r>
            <a:r>
              <a:rPr lang="nl-BE" sz="1800" b="0" u="none" strike="noStrike" dirty="0">
                <a:effectLst/>
                <a:latin typeface="+mn-lt"/>
              </a:rPr>
              <a:t>.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help </a:t>
            </a:r>
            <a:r>
              <a:rPr lang="nl-BE" sz="1800" b="0" u="none" strike="noStrike" dirty="0" err="1">
                <a:effectLst/>
                <a:latin typeface="+mn-lt"/>
              </a:rPr>
              <a:t>refine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final</a:t>
            </a:r>
            <a:r>
              <a:rPr lang="nl-BE" sz="1800" b="0" u="none" strike="noStrike" dirty="0">
                <a:effectLst/>
                <a:latin typeface="+mn-lt"/>
              </a:rPr>
              <a:t> step, </a:t>
            </a:r>
            <a:r>
              <a:rPr lang="nl-BE" sz="1800" b="0" u="none" strike="noStrike" dirty="0" err="1">
                <a:effectLst/>
                <a:latin typeface="+mn-lt"/>
              </a:rPr>
              <a:t>tell</a:t>
            </a:r>
            <a:r>
              <a:rPr lang="nl-BE" sz="1800" b="0" u="none" strike="noStrike" dirty="0">
                <a:effectLst/>
                <a:latin typeface="+mn-lt"/>
              </a:rPr>
              <a:t> me: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0" u="none" strike="noStrike" dirty="0">
                <a:effectLst/>
                <a:latin typeface="+mn-lt"/>
              </a:rPr>
              <a:t>Is </a:t>
            </a:r>
            <a:r>
              <a:rPr lang="nl-BE" sz="1800" b="0" u="none" strike="noStrike" dirty="0" err="1">
                <a:effectLst/>
                <a:latin typeface="+mn-lt"/>
              </a:rPr>
              <a:t>your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deep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learning</a:t>
            </a:r>
            <a:r>
              <a:rPr lang="nl-BE" sz="1800" b="0" u="none" strike="noStrike" dirty="0">
                <a:effectLst/>
                <a:latin typeface="+mn-lt"/>
              </a:rPr>
              <a:t> model </a:t>
            </a:r>
            <a:r>
              <a:rPr lang="nl-BE" sz="1800" b="1" u="none" strike="noStrike" dirty="0" err="1">
                <a:effectLst/>
                <a:latin typeface="+mn-lt"/>
              </a:rPr>
              <a:t>computationally</a:t>
            </a:r>
            <a:r>
              <a:rPr lang="nl-BE" sz="1800" b="1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expensive</a:t>
            </a:r>
            <a:r>
              <a:rPr lang="nl-BE" sz="1800" b="1" u="none" strike="noStrike" dirty="0">
                <a:effectLst/>
                <a:latin typeface="+mn-lt"/>
              </a:rPr>
              <a:t> / long </a:t>
            </a:r>
            <a:r>
              <a:rPr lang="nl-BE" sz="1800" b="1" u="none" strike="noStrike" dirty="0" err="1">
                <a:effectLst/>
                <a:latin typeface="+mn-lt"/>
              </a:rPr>
              <a:t>to</a:t>
            </a:r>
            <a:r>
              <a:rPr lang="nl-BE" sz="1800" b="1" u="none" strike="noStrike" dirty="0">
                <a:effectLst/>
                <a:latin typeface="+mn-lt"/>
              </a:rPr>
              <a:t> train</a:t>
            </a:r>
            <a:r>
              <a:rPr lang="nl-BE" sz="1800" b="0" u="none" strike="noStrike" dirty="0">
                <a:effectLst/>
                <a:latin typeface="+mn-lt"/>
              </a:rPr>
              <a:t>, making a 9-fold loop </a:t>
            </a:r>
            <a:r>
              <a:rPr lang="nl-BE" sz="1800" b="0" u="none" strike="noStrike" dirty="0" err="1">
                <a:effectLst/>
                <a:latin typeface="+mn-lt"/>
              </a:rPr>
              <a:t>difficult</a:t>
            </a:r>
            <a:r>
              <a:rPr lang="nl-BE" sz="1800" b="0" u="none" strike="noStrike" dirty="0">
                <a:effectLst/>
                <a:latin typeface="+mn-lt"/>
              </a:rPr>
              <a:t>?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nl-BE" sz="1800" b="0" u="none" strike="noStrike" dirty="0">
                <a:effectLst/>
                <a:latin typeface="+mn-lt"/>
              </a:rPr>
              <a:t>Do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use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1" u="none" strike="noStrike" dirty="0" err="1">
                <a:effectLst/>
                <a:latin typeface="+mn-lt"/>
              </a:rPr>
              <a:t>Early</a:t>
            </a:r>
            <a:r>
              <a:rPr lang="nl-BE" sz="1800" b="1" u="none" strike="noStrike" dirty="0">
                <a:effectLst/>
                <a:latin typeface="+mn-lt"/>
              </a:rPr>
              <a:t> Stopping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to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prevent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overfitting</a:t>
            </a:r>
            <a:r>
              <a:rPr lang="nl-BE" sz="1800" b="0" u="none" strike="noStrike" dirty="0">
                <a:effectLst/>
                <a:latin typeface="+mn-lt"/>
              </a:rPr>
              <a:t>, or do </a:t>
            </a:r>
            <a:r>
              <a:rPr lang="nl-BE" sz="1800" b="0" u="none" strike="noStrike" dirty="0" err="1">
                <a:effectLst/>
                <a:latin typeface="+mn-lt"/>
              </a:rPr>
              <a:t>you</a:t>
            </a:r>
            <a:r>
              <a:rPr lang="nl-BE" sz="1800" b="0" u="none" strike="noStrike" dirty="0">
                <a:effectLst/>
                <a:latin typeface="+mn-lt"/>
              </a:rPr>
              <a:t> train </a:t>
            </a:r>
            <a:r>
              <a:rPr lang="nl-BE" sz="1800" b="0" u="none" strike="noStrike" dirty="0" err="1">
                <a:effectLst/>
                <a:latin typeface="+mn-lt"/>
              </a:rPr>
              <a:t>for</a:t>
            </a:r>
            <a:r>
              <a:rPr lang="nl-BE" sz="1800" b="0" u="none" strike="noStrike" dirty="0">
                <a:effectLst/>
                <a:latin typeface="+mn-lt"/>
              </a:rPr>
              <a:t> a </a:t>
            </a:r>
            <a:r>
              <a:rPr lang="nl-BE" sz="1800" b="0" u="none" strike="noStrike" dirty="0" err="1">
                <a:effectLst/>
                <a:latin typeface="+mn-lt"/>
              </a:rPr>
              <a:t>fixed</a:t>
            </a:r>
            <a:r>
              <a:rPr lang="nl-BE" sz="1800" b="0" u="none" strike="noStrike" dirty="0">
                <a:effectLst/>
                <a:latin typeface="+mn-lt"/>
              </a:rPr>
              <a:t> </a:t>
            </a:r>
            <a:r>
              <a:rPr lang="nl-BE" sz="1800" b="0" u="none" strike="noStrike" dirty="0" err="1">
                <a:effectLst/>
                <a:latin typeface="+mn-lt"/>
              </a:rPr>
              <a:t>number</a:t>
            </a:r>
            <a:r>
              <a:rPr lang="nl-BE" sz="1800" b="0" u="none" strike="noStrike" dirty="0">
                <a:effectLst/>
                <a:latin typeface="+mn-lt"/>
              </a:rPr>
              <a:t> of </a:t>
            </a:r>
            <a:r>
              <a:rPr lang="nl-BE" sz="1800" b="0" u="none" strike="noStrike" dirty="0" err="1">
                <a:effectLst/>
                <a:latin typeface="+mn-lt"/>
              </a:rPr>
              <a:t>epochs</a:t>
            </a:r>
            <a:r>
              <a:rPr lang="nl-BE" sz="1800" b="0" u="none" strike="noStrike" dirty="0">
                <a:effectLst/>
                <a:latin typeface="+mn-lt"/>
              </a:rPr>
              <a:t>?</a:t>
            </a:r>
            <a:endParaRPr lang="nl-BE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64705813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839</Words>
  <Application>Microsoft Office PowerPoint</Application>
  <PresentationFormat>Breedbeeld</PresentationFormat>
  <Paragraphs>64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Google Sans</vt:lpstr>
      <vt:lpstr>Wingdings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INBO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VERBESSELT, Sebastiaan</dc:creator>
  <cp:lastModifiedBy>VERBESSELT, Sebastiaan</cp:lastModifiedBy>
  <cp:revision>1</cp:revision>
  <dcterms:created xsi:type="dcterms:W3CDTF">2026-10-07T09:22:00Z</dcterms:created>
  <dcterms:modified xsi:type="dcterms:W3CDTF">2026-10-07T11:54:57Z</dcterms:modified>
</cp:coreProperties>
</file>